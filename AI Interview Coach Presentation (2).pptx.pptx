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Calibri (MS) Bold" panose="020B0604020202020204" charset="0"/>
      <p:regular r:id="rId16"/>
    </p:embeddedFont>
    <p:embeddedFont>
      <p:font typeface="Poppins" panose="00000500000000000000" pitchFamily="2" charset="0"/>
      <p:regular r:id="rId17"/>
    </p:embeddedFont>
    <p:embeddedFont>
      <p:font typeface="Poppins Bold" panose="020B0604020202020204" charset="0"/>
      <p:regular r:id="rId18"/>
    </p:embeddedFont>
    <p:embeddedFont>
      <p:font typeface="Poppins Italics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20.png"/><Relationship Id="rId3" Type="http://schemas.openxmlformats.org/officeDocument/2006/relationships/image" Target="../media/image13.png"/><Relationship Id="rId7" Type="http://schemas.openxmlformats.org/officeDocument/2006/relationships/image" Target="../media/image8.png"/><Relationship Id="rId12" Type="http://schemas.openxmlformats.org/officeDocument/2006/relationships/image" Target="../media/image19.png"/><Relationship Id="rId17" Type="http://schemas.openxmlformats.org/officeDocument/2006/relationships/image" Target="../media/image1.png"/><Relationship Id="rId2" Type="http://schemas.openxmlformats.org/officeDocument/2006/relationships/image" Target="../media/image2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8.png"/><Relationship Id="rId5" Type="http://schemas.openxmlformats.org/officeDocument/2006/relationships/image" Target="../media/image15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36.png"/><Relationship Id="rId5" Type="http://schemas.openxmlformats.org/officeDocument/2006/relationships/image" Target="../media/image6.png"/><Relationship Id="rId10" Type="http://schemas.openxmlformats.org/officeDocument/2006/relationships/image" Target="../media/image35.png"/><Relationship Id="rId4" Type="http://schemas.openxmlformats.org/officeDocument/2006/relationships/image" Target="../media/image5.png"/><Relationship Id="rId9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510042" cy="1614719"/>
            <a:chOff x="0" y="0"/>
            <a:chExt cx="28997229" cy="133395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997228" cy="13339552"/>
            </a:xfrm>
            <a:custGeom>
              <a:avLst/>
              <a:gdLst/>
              <a:ahLst/>
              <a:cxnLst/>
              <a:rect l="l" t="t" r="r" b="b"/>
              <a:pathLst>
                <a:path w="28997228" h="13339552">
                  <a:moveTo>
                    <a:pt x="0" y="0"/>
                  </a:moveTo>
                  <a:lnTo>
                    <a:pt x="28997228" y="0"/>
                  </a:lnTo>
                  <a:lnTo>
                    <a:pt x="28997228" y="13339552"/>
                  </a:lnTo>
                  <a:lnTo>
                    <a:pt x="0" y="13339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79" b="-279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3695550" y="2824822"/>
            <a:ext cx="10896900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020"/>
              </a:lnSpc>
            </a:pPr>
            <a:r>
              <a:rPr lang="en-US" sz="6975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AI Interview Coach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278368" y="4655681"/>
            <a:ext cx="12144375" cy="995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2"/>
              </a:lnSpc>
            </a:pPr>
            <a:r>
              <a:rPr lang="en-US" sz="2362" dirty="0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An Interactive UI/UX Prototype for AI-Driven Interview Preparation, System Architecture &amp; Analytics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90345" y="6455980"/>
            <a:ext cx="11731261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225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SUBJECT : DBS &amp; DB   |    COURSE CODE : 25CS1302E   |   FACULTY : DR. KHAJA SHAREEF                                                                                                                    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47381" y="8490347"/>
            <a:ext cx="3690137" cy="4033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REVIEW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5486400" y="3086100"/>
          <a:ext cx="7758249" cy="4114800"/>
        </p:xfrm>
        <a:graphic>
          <a:graphicData uri="http://schemas.openxmlformats.org/drawingml/2006/table">
            <a:tbl>
              <a:tblPr/>
              <a:tblGrid>
                <a:gridCol w="24376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5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54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5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SI NO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5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5" b="1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ROLL NO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5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5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K.PAVAN KUMAR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5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2520090038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5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5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P.HARSHA VARDHAN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5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2520090180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5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5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B.PURNA CHANDAR RAO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5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2520090188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0" y="0"/>
            <a:ext cx="3510042" cy="1614719"/>
            <a:chOff x="0" y="0"/>
            <a:chExt cx="28997229" cy="1333955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997228" cy="13339552"/>
            </a:xfrm>
            <a:custGeom>
              <a:avLst/>
              <a:gdLst/>
              <a:ahLst/>
              <a:cxnLst/>
              <a:rect l="l" t="t" r="r" b="b"/>
              <a:pathLst>
                <a:path w="28997228" h="13339552">
                  <a:moveTo>
                    <a:pt x="0" y="0"/>
                  </a:moveTo>
                  <a:lnTo>
                    <a:pt x="28997228" y="0"/>
                  </a:lnTo>
                  <a:lnTo>
                    <a:pt x="28997228" y="13339552"/>
                  </a:lnTo>
                  <a:lnTo>
                    <a:pt x="0" y="13339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79" b="-279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4245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71538" y="4329112"/>
            <a:ext cx="7986712" cy="4014788"/>
            <a:chOff x="0" y="0"/>
            <a:chExt cx="10648950" cy="53530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0648950" cy="5353050"/>
            </a:xfrm>
            <a:custGeom>
              <a:avLst/>
              <a:gdLst/>
              <a:ahLst/>
              <a:cxnLst/>
              <a:rect l="l" t="t" r="r" b="b"/>
              <a:pathLst>
                <a:path w="10648950" h="5353050">
                  <a:moveTo>
                    <a:pt x="0" y="0"/>
                  </a:moveTo>
                  <a:lnTo>
                    <a:pt x="10648950" y="0"/>
                  </a:lnTo>
                  <a:lnTo>
                    <a:pt x="10648950" y="5353050"/>
                  </a:lnTo>
                  <a:lnTo>
                    <a:pt x="0" y="5353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9" r="-89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9429750" y="4329112"/>
            <a:ext cx="7986712" cy="4014788"/>
            <a:chOff x="0" y="0"/>
            <a:chExt cx="10648950" cy="535305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10648950" cy="5353050"/>
            </a:xfrm>
            <a:custGeom>
              <a:avLst/>
              <a:gdLst/>
              <a:ahLst/>
              <a:cxnLst/>
              <a:rect l="l" t="t" r="r" b="b"/>
              <a:pathLst>
                <a:path w="10648950" h="5353050">
                  <a:moveTo>
                    <a:pt x="0" y="0"/>
                  </a:moveTo>
                  <a:lnTo>
                    <a:pt x="10648950" y="0"/>
                  </a:lnTo>
                  <a:lnTo>
                    <a:pt x="10648950" y="5353050"/>
                  </a:lnTo>
                  <a:lnTo>
                    <a:pt x="0" y="5353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9" r="-89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438275" y="4772025"/>
            <a:ext cx="7300674" cy="500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1">
                <a:solidFill>
                  <a:srgbClr val="60A5FA"/>
                </a:solidFill>
                <a:latin typeface="Poppins Bold"/>
                <a:ea typeface="Poppins Bold"/>
                <a:cs typeface="Poppins Bold"/>
                <a:sym typeface="Poppins Bold"/>
              </a:rPr>
              <a:t>Why Candidates Fail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43025" y="5395912"/>
            <a:ext cx="7043738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sz="1800" b="1">
                <a:solidFill>
                  <a:srgbClr val="38BDF8"/>
                </a:solidFill>
                <a:latin typeface="Poppins Bold"/>
                <a:ea typeface="Poppins Bold"/>
                <a:cs typeface="Poppins Bold"/>
                <a:sym typeface="Poppins Bold"/>
              </a:rPr>
              <a:t>68% of candidates</a:t>
            </a:r>
            <a:r>
              <a:rPr lang="en-US" sz="1800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 fail initial rounds not due to technical knowledge, but due to unstructured answers, poor pacing, and speech fillers.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43025" y="6596062"/>
            <a:ext cx="7043738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sz="1800" b="1">
                <a:solidFill>
                  <a:srgbClr val="38BDF8"/>
                </a:solidFill>
                <a:latin typeface="Poppins Bold"/>
                <a:ea typeface="Poppins Bold"/>
                <a:cs typeface="Poppins Bold"/>
                <a:sym typeface="Poppins Bold"/>
              </a:rPr>
              <a:t>73% of job seekers</a:t>
            </a:r>
            <a:r>
              <a:rPr lang="en-US" sz="1800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 experience severe anxiety without realistic practice, leading to low confidence under live pressure.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96488" y="4772025"/>
            <a:ext cx="7300674" cy="500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sz="2475" b="1">
                <a:solidFill>
                  <a:srgbClr val="60A5FA"/>
                </a:solidFill>
                <a:latin typeface="Poppins Bold"/>
                <a:ea typeface="Poppins Bold"/>
                <a:cs typeface="Poppins Bold"/>
                <a:sym typeface="Poppins Bold"/>
              </a:rPr>
              <a:t>Impact of AI Practice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01238" y="5395912"/>
            <a:ext cx="7043738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sz="1800" b="1">
                <a:solidFill>
                  <a:srgbClr val="38BDF8"/>
                </a:solidFill>
                <a:latin typeface="Poppins Bold"/>
                <a:ea typeface="Poppins Bold"/>
                <a:cs typeface="Poppins Bold"/>
                <a:sym typeface="Poppins Bold"/>
              </a:rPr>
              <a:t>2x Higher Offer Rate:</a:t>
            </a:r>
            <a:r>
              <a:rPr lang="en-US" sz="1800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 Candidates completing 5+ realistic mock sessions convert callbacks to offers at double the rate of unguided candidates.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01238" y="6596062"/>
            <a:ext cx="7043738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• </a:t>
            </a:r>
            <a:r>
              <a:rPr lang="en-US" sz="1800" b="1">
                <a:solidFill>
                  <a:srgbClr val="38BDF8"/>
                </a:solidFill>
                <a:latin typeface="Poppins Bold"/>
                <a:ea typeface="Poppins Bold"/>
                <a:cs typeface="Poppins Bold"/>
                <a:sym typeface="Poppins Bold"/>
              </a:rPr>
              <a:t>+15% Confidence Boost:</a:t>
            </a:r>
            <a:r>
              <a:rPr lang="en-US" sz="1800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 AI-driven feedback improves speech clarity and reduces live anxiety responses measurably.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66258" y="2359153"/>
            <a:ext cx="8755484" cy="654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Rejection vs AI Practice Impact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0" y="0"/>
            <a:ext cx="3510042" cy="1614719"/>
            <a:chOff x="0" y="0"/>
            <a:chExt cx="28997229" cy="1333955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8997228" cy="13339552"/>
            </a:xfrm>
            <a:custGeom>
              <a:avLst/>
              <a:gdLst/>
              <a:ahLst/>
              <a:cxnLst/>
              <a:rect l="l" t="t" r="r" b="b"/>
              <a:pathLst>
                <a:path w="28997228" h="13339552">
                  <a:moveTo>
                    <a:pt x="0" y="0"/>
                  </a:moveTo>
                  <a:lnTo>
                    <a:pt x="28997228" y="0"/>
                  </a:lnTo>
                  <a:lnTo>
                    <a:pt x="28997228" y="13339552"/>
                  </a:lnTo>
                  <a:lnTo>
                    <a:pt x="0" y="13339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79" b="-279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71538" y="5119688"/>
            <a:ext cx="5286375" cy="3300412"/>
            <a:chOff x="0" y="0"/>
            <a:chExt cx="7048500" cy="44005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7048500" cy="4400550"/>
            </a:xfrm>
            <a:custGeom>
              <a:avLst/>
              <a:gdLst/>
              <a:ahLst/>
              <a:cxnLst/>
              <a:rect l="l" t="t" r="r" b="b"/>
              <a:pathLst>
                <a:path w="7048500" h="4400550">
                  <a:moveTo>
                    <a:pt x="0" y="0"/>
                  </a:moveTo>
                  <a:lnTo>
                    <a:pt x="7048500" y="0"/>
                  </a:lnTo>
                  <a:lnTo>
                    <a:pt x="7048500" y="4400550"/>
                  </a:lnTo>
                  <a:lnTo>
                    <a:pt x="0" y="440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5" r="-135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500812" y="5119688"/>
            <a:ext cx="5286375" cy="3300412"/>
            <a:chOff x="0" y="0"/>
            <a:chExt cx="7048500" cy="440055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7048500" cy="4400550"/>
            </a:xfrm>
            <a:custGeom>
              <a:avLst/>
              <a:gdLst/>
              <a:ahLst/>
              <a:cxnLst/>
              <a:rect l="l" t="t" r="r" b="b"/>
              <a:pathLst>
                <a:path w="7048500" h="4400550">
                  <a:moveTo>
                    <a:pt x="0" y="0"/>
                  </a:moveTo>
                  <a:lnTo>
                    <a:pt x="7048500" y="0"/>
                  </a:lnTo>
                  <a:lnTo>
                    <a:pt x="7048500" y="4400550"/>
                  </a:lnTo>
                  <a:lnTo>
                    <a:pt x="0" y="440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0" r="-270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2130088" y="5119688"/>
            <a:ext cx="5286375" cy="3300412"/>
            <a:chOff x="0" y="0"/>
            <a:chExt cx="7048500" cy="440055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7048500" cy="4400550"/>
            </a:xfrm>
            <a:custGeom>
              <a:avLst/>
              <a:gdLst/>
              <a:ahLst/>
              <a:cxnLst/>
              <a:rect l="l" t="t" r="r" b="b"/>
              <a:pathLst>
                <a:path w="7048500" h="4400550">
                  <a:moveTo>
                    <a:pt x="0" y="0"/>
                  </a:moveTo>
                  <a:lnTo>
                    <a:pt x="7048500" y="0"/>
                  </a:lnTo>
                  <a:lnTo>
                    <a:pt x="7048500" y="4400550"/>
                  </a:lnTo>
                  <a:lnTo>
                    <a:pt x="0" y="440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70" r="-27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285875" y="5534026"/>
            <a:ext cx="742950" cy="742950"/>
            <a:chOff x="0" y="0"/>
            <a:chExt cx="990600" cy="9906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990600" cy="990600"/>
            </a:xfrm>
            <a:custGeom>
              <a:avLst/>
              <a:gdLst/>
              <a:ahLst/>
              <a:cxnLst/>
              <a:rect l="l" t="t" r="r" b="b"/>
              <a:pathLst>
                <a:path w="990600" h="990600">
                  <a:moveTo>
                    <a:pt x="0" y="0"/>
                  </a:moveTo>
                  <a:lnTo>
                    <a:pt x="990600" y="0"/>
                  </a:lnTo>
                  <a:lnTo>
                    <a:pt x="9906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285875" y="6505575"/>
            <a:ext cx="2655332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3F4F6"/>
                </a:solidFill>
                <a:latin typeface="Poppins"/>
                <a:ea typeface="Poppins"/>
                <a:cs typeface="Poppins"/>
                <a:sym typeface="Poppins"/>
              </a:rPr>
              <a:t>Interview Anxiety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5875" y="7048500"/>
            <a:ext cx="4457700" cy="957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Candidates face intense anxiety due to a lack of realistic, timed practice opportunities before real placement drives.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915150" y="5534026"/>
            <a:ext cx="742950" cy="742950"/>
            <a:chOff x="0" y="0"/>
            <a:chExt cx="990600" cy="9906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990600" cy="990600"/>
            </a:xfrm>
            <a:custGeom>
              <a:avLst/>
              <a:gdLst/>
              <a:ahLst/>
              <a:cxnLst/>
              <a:rect l="l" t="t" r="r" b="b"/>
              <a:pathLst>
                <a:path w="990600" h="990600">
                  <a:moveTo>
                    <a:pt x="0" y="0"/>
                  </a:moveTo>
                  <a:lnTo>
                    <a:pt x="990600" y="0"/>
                  </a:lnTo>
                  <a:lnTo>
                    <a:pt x="9906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961" r="-961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6915150" y="6505575"/>
            <a:ext cx="349543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3F4F6"/>
                </a:solidFill>
                <a:latin typeface="Poppins"/>
                <a:ea typeface="Poppins"/>
                <a:cs typeface="Poppins"/>
                <a:sym typeface="Poppins"/>
              </a:rPr>
              <a:t>Inaccessible Coaching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15150" y="7048500"/>
            <a:ext cx="4457700" cy="957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Human 1-on-1 interview coaches are expensive, hard to schedule, and lack objective data-driven performance metrics.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2544425" y="5534026"/>
            <a:ext cx="742950" cy="742950"/>
            <a:chOff x="0" y="0"/>
            <a:chExt cx="990600" cy="99060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990600" cy="990600"/>
            </a:xfrm>
            <a:custGeom>
              <a:avLst/>
              <a:gdLst/>
              <a:ahLst/>
              <a:cxnLst/>
              <a:rect l="l" t="t" r="r" b="b"/>
              <a:pathLst>
                <a:path w="990600" h="990600">
                  <a:moveTo>
                    <a:pt x="0" y="0"/>
                  </a:moveTo>
                  <a:lnTo>
                    <a:pt x="990600" y="0"/>
                  </a:lnTo>
                  <a:lnTo>
                    <a:pt x="9906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961" r="-961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12544425" y="6505575"/>
            <a:ext cx="2730341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3F4F6"/>
                </a:solidFill>
                <a:latin typeface="Poppins"/>
                <a:ea typeface="Poppins"/>
                <a:cs typeface="Poppins"/>
                <a:sym typeface="Poppins"/>
              </a:rPr>
              <a:t>AI Practice Coach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44425" y="7048500"/>
            <a:ext cx="4457700" cy="957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Provides 24/7 accessible mock simulations with instant analysis on grammar, fluency, and technical competence.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485900" y="5734050"/>
            <a:ext cx="342900" cy="342900"/>
            <a:chOff x="0" y="0"/>
            <a:chExt cx="457200" cy="457200"/>
          </a:xfrm>
        </p:grpSpPr>
        <p:sp>
          <p:nvSpPr>
            <p:cNvPr id="23" name="Freeform 23" descr="image.png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7072312" y="5734050"/>
            <a:ext cx="428625" cy="342900"/>
            <a:chOff x="0" y="0"/>
            <a:chExt cx="571500" cy="457200"/>
          </a:xfrm>
        </p:grpSpPr>
        <p:sp>
          <p:nvSpPr>
            <p:cNvPr id="25" name="Freeform 25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666" r="-1666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12701588" y="5734050"/>
            <a:ext cx="428625" cy="342900"/>
            <a:chOff x="0" y="0"/>
            <a:chExt cx="571500" cy="457200"/>
          </a:xfrm>
        </p:grpSpPr>
        <p:sp>
          <p:nvSpPr>
            <p:cNvPr id="27" name="Freeform 27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666" r="-1666"/>
              </a:stretch>
            </a:blipFill>
          </p:spPr>
        </p:sp>
      </p:grpSp>
      <p:sp>
        <p:nvSpPr>
          <p:cNvPr id="28" name="TextBox 28"/>
          <p:cNvSpPr txBox="1"/>
          <p:nvPr/>
        </p:nvSpPr>
        <p:spPr>
          <a:xfrm>
            <a:off x="4026931" y="2713178"/>
            <a:ext cx="9271874" cy="654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 &amp; AI Solution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0" y="0"/>
            <a:ext cx="3510042" cy="1614719"/>
            <a:chOff x="0" y="0"/>
            <a:chExt cx="28997229" cy="1333955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8997228" cy="13339552"/>
            </a:xfrm>
            <a:custGeom>
              <a:avLst/>
              <a:gdLst/>
              <a:ahLst/>
              <a:cxnLst/>
              <a:rect l="l" t="t" r="r" b="b"/>
              <a:pathLst>
                <a:path w="28997228" h="13339552">
                  <a:moveTo>
                    <a:pt x="0" y="0"/>
                  </a:moveTo>
                  <a:lnTo>
                    <a:pt x="28997228" y="0"/>
                  </a:lnTo>
                  <a:lnTo>
                    <a:pt x="28997228" y="13339552"/>
                  </a:lnTo>
                  <a:lnTo>
                    <a:pt x="0" y="13339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279" b="-279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71538" y="3514725"/>
            <a:ext cx="5286375" cy="4500562"/>
            <a:chOff x="0" y="0"/>
            <a:chExt cx="7048500" cy="60007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7048500" cy="6000750"/>
            </a:xfrm>
            <a:custGeom>
              <a:avLst/>
              <a:gdLst/>
              <a:ahLst/>
              <a:cxnLst/>
              <a:rect l="l" t="t" r="r" b="b"/>
              <a:pathLst>
                <a:path w="7048500" h="6000750">
                  <a:moveTo>
                    <a:pt x="0" y="0"/>
                  </a:moveTo>
                  <a:lnTo>
                    <a:pt x="7048500" y="0"/>
                  </a:lnTo>
                  <a:lnTo>
                    <a:pt x="7048500" y="6000750"/>
                  </a:lnTo>
                  <a:lnTo>
                    <a:pt x="0" y="6000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5" r="-135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500812" y="3514725"/>
            <a:ext cx="5286375" cy="4500562"/>
            <a:chOff x="0" y="0"/>
            <a:chExt cx="7048500" cy="600075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7048500" cy="6000750"/>
            </a:xfrm>
            <a:custGeom>
              <a:avLst/>
              <a:gdLst/>
              <a:ahLst/>
              <a:cxnLst/>
              <a:rect l="l" t="t" r="r" b="b"/>
              <a:pathLst>
                <a:path w="7048500" h="6000750">
                  <a:moveTo>
                    <a:pt x="0" y="0"/>
                  </a:moveTo>
                  <a:lnTo>
                    <a:pt x="7048500" y="0"/>
                  </a:lnTo>
                  <a:lnTo>
                    <a:pt x="7048500" y="6000750"/>
                  </a:lnTo>
                  <a:lnTo>
                    <a:pt x="0" y="6000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0" r="-270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2130088" y="3514725"/>
            <a:ext cx="5286375" cy="4500562"/>
            <a:chOff x="0" y="0"/>
            <a:chExt cx="7048500" cy="600075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7048500" cy="6000750"/>
            </a:xfrm>
            <a:custGeom>
              <a:avLst/>
              <a:gdLst/>
              <a:ahLst/>
              <a:cxnLst/>
              <a:rect l="l" t="t" r="r" b="b"/>
              <a:pathLst>
                <a:path w="7048500" h="6000750">
                  <a:moveTo>
                    <a:pt x="0" y="0"/>
                  </a:moveTo>
                  <a:lnTo>
                    <a:pt x="7048500" y="0"/>
                  </a:lnTo>
                  <a:lnTo>
                    <a:pt x="7048500" y="6000750"/>
                  </a:lnTo>
                  <a:lnTo>
                    <a:pt x="0" y="6000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70" r="-27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285875" y="3929062"/>
            <a:ext cx="742950" cy="742950"/>
            <a:chOff x="0" y="0"/>
            <a:chExt cx="990600" cy="9906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990600" cy="990600"/>
            </a:xfrm>
            <a:custGeom>
              <a:avLst/>
              <a:gdLst/>
              <a:ahLst/>
              <a:cxnLst/>
              <a:rect l="l" t="t" r="r" b="b"/>
              <a:pathLst>
                <a:path w="990600" h="990600">
                  <a:moveTo>
                    <a:pt x="0" y="0"/>
                  </a:moveTo>
                  <a:lnTo>
                    <a:pt x="990600" y="0"/>
                  </a:lnTo>
                  <a:lnTo>
                    <a:pt x="9906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285875" y="4900613"/>
            <a:ext cx="2370296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3F4F6"/>
                </a:solidFill>
                <a:latin typeface="Poppins"/>
                <a:ea typeface="Poppins"/>
                <a:cs typeface="Poppins"/>
                <a:sym typeface="Poppins"/>
              </a:rPr>
              <a:t>Frontend Views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5875" y="5443538"/>
            <a:ext cx="3546424" cy="1518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 dirty="0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 • — Hero Landing</a:t>
            </a:r>
          </a:p>
          <a:p>
            <a:pPr algn="l">
              <a:lnSpc>
                <a:spcPts val="2362"/>
              </a:lnSpc>
            </a:pPr>
            <a:r>
              <a:rPr lang="en-US" sz="1575" dirty="0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• — Analytics Hub</a:t>
            </a:r>
          </a:p>
          <a:p>
            <a:pPr algn="l">
              <a:lnSpc>
                <a:spcPts val="2362"/>
              </a:lnSpc>
            </a:pPr>
            <a:r>
              <a:rPr lang="en-US" sz="1575" dirty="0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 • — Simulator</a:t>
            </a:r>
          </a:p>
          <a:p>
            <a:pPr algn="l">
              <a:lnSpc>
                <a:spcPts val="2362"/>
              </a:lnSpc>
            </a:pPr>
            <a:r>
              <a:rPr lang="en-US" sz="1575" dirty="0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 • — AI Report</a:t>
            </a:r>
          </a:p>
          <a:p>
            <a:pPr algn="l">
              <a:lnSpc>
                <a:spcPts val="2362"/>
              </a:lnSpc>
            </a:pPr>
            <a:r>
              <a:rPr lang="en-US" sz="1575" dirty="0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 • — Achievements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915150" y="3929062"/>
            <a:ext cx="742950" cy="742950"/>
            <a:chOff x="0" y="0"/>
            <a:chExt cx="990600" cy="9906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990600" cy="990600"/>
            </a:xfrm>
            <a:custGeom>
              <a:avLst/>
              <a:gdLst/>
              <a:ahLst/>
              <a:cxnLst/>
              <a:rect l="l" t="t" r="r" b="b"/>
              <a:pathLst>
                <a:path w="990600" h="990600">
                  <a:moveTo>
                    <a:pt x="0" y="0"/>
                  </a:moveTo>
                  <a:lnTo>
                    <a:pt x="990600" y="0"/>
                  </a:lnTo>
                  <a:lnTo>
                    <a:pt x="9906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961" r="-961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6915150" y="4900613"/>
            <a:ext cx="2295287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3F4F6"/>
                </a:solidFill>
                <a:latin typeface="Poppins"/>
                <a:ea typeface="Poppins"/>
                <a:cs typeface="Poppins"/>
                <a:sym typeface="Poppins"/>
              </a:rPr>
              <a:t>Styling System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15150" y="5443538"/>
            <a:ext cx="4457700" cy="1826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 dirty="0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• Unified </a:t>
            </a:r>
            <a:r>
              <a:rPr lang="en-US" sz="1575" dirty="0" err="1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Glassmorphism</a:t>
            </a:r>
            <a:r>
              <a:rPr lang="en-US" sz="1575" dirty="0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 styling</a:t>
            </a:r>
          </a:p>
          <a:p>
            <a:pPr algn="l">
              <a:lnSpc>
                <a:spcPts val="2362"/>
              </a:lnSpc>
            </a:pPr>
            <a:r>
              <a:rPr lang="en-US" sz="1575" dirty="0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 • Custom CSS variables for light/dark mode engine</a:t>
            </a:r>
          </a:p>
          <a:p>
            <a:pPr algn="l">
              <a:lnSpc>
                <a:spcPts val="2362"/>
              </a:lnSpc>
            </a:pPr>
            <a:r>
              <a:rPr lang="en-US" sz="1575" dirty="0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 • Bootstrap 5 Grid for fluid responsiveness</a:t>
            </a:r>
          </a:p>
          <a:p>
            <a:pPr algn="l">
              <a:lnSpc>
                <a:spcPts val="2362"/>
              </a:lnSpc>
            </a:pPr>
            <a:r>
              <a:rPr lang="en-US" sz="1575" dirty="0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 • Smooth CSS keyframe animations &amp; progress rings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2544425" y="3929062"/>
            <a:ext cx="742950" cy="742950"/>
            <a:chOff x="0" y="0"/>
            <a:chExt cx="990600" cy="99060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990600" cy="990600"/>
            </a:xfrm>
            <a:custGeom>
              <a:avLst/>
              <a:gdLst/>
              <a:ahLst/>
              <a:cxnLst/>
              <a:rect l="l" t="t" r="r" b="b"/>
              <a:pathLst>
                <a:path w="990600" h="990600">
                  <a:moveTo>
                    <a:pt x="0" y="0"/>
                  </a:moveTo>
                  <a:lnTo>
                    <a:pt x="990600" y="0"/>
                  </a:lnTo>
                  <a:lnTo>
                    <a:pt x="9906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961" r="-961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12544425" y="4900613"/>
            <a:ext cx="2010251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3F4F6"/>
                </a:solidFill>
                <a:latin typeface="Poppins"/>
                <a:ea typeface="Poppins"/>
                <a:cs typeface="Poppins"/>
                <a:sym typeface="Poppins"/>
              </a:rPr>
              <a:t>Client Engine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44425" y="5443538"/>
            <a:ext cx="4457700" cy="1826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 dirty="0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• Modular vanilla JavaScript</a:t>
            </a:r>
          </a:p>
          <a:p>
            <a:pPr algn="l">
              <a:lnSpc>
                <a:spcPts val="2362"/>
              </a:lnSpc>
            </a:pPr>
            <a:r>
              <a:rPr lang="en-US" sz="1575" dirty="0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 • Handles state, countdown timers, and forms</a:t>
            </a:r>
          </a:p>
          <a:p>
            <a:pPr algn="l">
              <a:lnSpc>
                <a:spcPts val="2362"/>
              </a:lnSpc>
            </a:pPr>
            <a:r>
              <a:rPr lang="en-US" sz="1575" dirty="0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 • Animated counter &amp; circular progress rendering</a:t>
            </a:r>
          </a:p>
          <a:p>
            <a:pPr algn="l">
              <a:lnSpc>
                <a:spcPts val="2362"/>
              </a:lnSpc>
            </a:pPr>
            <a:r>
              <a:rPr lang="en-US" sz="1575" dirty="0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 • Voice recording UI simulation &amp; navigation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464469" y="4129088"/>
            <a:ext cx="385762" cy="342900"/>
            <a:chOff x="0" y="0"/>
            <a:chExt cx="514350" cy="457200"/>
          </a:xfrm>
        </p:grpSpPr>
        <p:sp>
          <p:nvSpPr>
            <p:cNvPr id="23" name="Freeform 23" descr="image.png"/>
            <p:cNvSpPr/>
            <p:nvPr/>
          </p:nvSpPr>
          <p:spPr>
            <a:xfrm>
              <a:off x="0" y="0"/>
              <a:ext cx="514350" cy="457200"/>
            </a:xfrm>
            <a:custGeom>
              <a:avLst/>
              <a:gdLst/>
              <a:ahLst/>
              <a:cxnLst/>
              <a:rect l="l" t="t" r="r" b="b"/>
              <a:pathLst>
                <a:path w="514350" h="457200">
                  <a:moveTo>
                    <a:pt x="0" y="0"/>
                  </a:moveTo>
                  <a:lnTo>
                    <a:pt x="514350" y="0"/>
                  </a:lnTo>
                  <a:lnTo>
                    <a:pt x="5143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851" r="-1851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3154632" y="5481638"/>
            <a:ext cx="1343244" cy="271462"/>
            <a:chOff x="0" y="0"/>
            <a:chExt cx="1790992" cy="361950"/>
          </a:xfrm>
        </p:grpSpPr>
        <p:sp>
          <p:nvSpPr>
            <p:cNvPr id="25" name="Freeform 25" descr="image.png"/>
            <p:cNvSpPr/>
            <p:nvPr/>
          </p:nvSpPr>
          <p:spPr>
            <a:xfrm>
              <a:off x="0" y="0"/>
              <a:ext cx="1790954" cy="361950"/>
            </a:xfrm>
            <a:custGeom>
              <a:avLst/>
              <a:gdLst/>
              <a:ahLst/>
              <a:cxnLst/>
              <a:rect l="l" t="t" r="r" b="b"/>
              <a:pathLst>
                <a:path w="1790954" h="361950">
                  <a:moveTo>
                    <a:pt x="0" y="0"/>
                  </a:moveTo>
                  <a:lnTo>
                    <a:pt x="1790954" y="0"/>
                  </a:lnTo>
                  <a:lnTo>
                    <a:pt x="1790954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523" r="-526"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3153222" y="5788075"/>
            <a:ext cx="1789062" cy="271462"/>
            <a:chOff x="0" y="0"/>
            <a:chExt cx="2385416" cy="361950"/>
          </a:xfrm>
        </p:grpSpPr>
        <p:sp>
          <p:nvSpPr>
            <p:cNvPr id="29" name="Freeform 29" descr="image.png"/>
            <p:cNvSpPr/>
            <p:nvPr/>
          </p:nvSpPr>
          <p:spPr>
            <a:xfrm>
              <a:off x="0" y="0"/>
              <a:ext cx="2385441" cy="361950"/>
            </a:xfrm>
            <a:custGeom>
              <a:avLst/>
              <a:gdLst/>
              <a:ahLst/>
              <a:cxnLst/>
              <a:rect l="l" t="t" r="r" b="b"/>
              <a:pathLst>
                <a:path w="2385441" h="361950">
                  <a:moveTo>
                    <a:pt x="0" y="0"/>
                  </a:moveTo>
                  <a:lnTo>
                    <a:pt x="2385441" y="0"/>
                  </a:lnTo>
                  <a:lnTo>
                    <a:pt x="2385441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311" r="-310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3153203" y="6103591"/>
            <a:ext cx="1789062" cy="271462"/>
            <a:chOff x="0" y="0"/>
            <a:chExt cx="2385416" cy="361950"/>
          </a:xfrm>
        </p:grpSpPr>
        <p:sp>
          <p:nvSpPr>
            <p:cNvPr id="31" name="Freeform 31" descr="image.png"/>
            <p:cNvSpPr/>
            <p:nvPr/>
          </p:nvSpPr>
          <p:spPr>
            <a:xfrm>
              <a:off x="0" y="0"/>
              <a:ext cx="2385441" cy="361950"/>
            </a:xfrm>
            <a:custGeom>
              <a:avLst/>
              <a:gdLst/>
              <a:ahLst/>
              <a:cxnLst/>
              <a:rect l="l" t="t" r="r" b="b"/>
              <a:pathLst>
                <a:path w="2385441" h="361950">
                  <a:moveTo>
                    <a:pt x="0" y="0"/>
                  </a:moveTo>
                  <a:lnTo>
                    <a:pt x="2385441" y="0"/>
                  </a:lnTo>
                  <a:lnTo>
                    <a:pt x="2385441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311" r="-310"/>
              </a:stretch>
            </a:blipFill>
          </p:spPr>
        </p:sp>
      </p:grpSp>
      <p:grpSp>
        <p:nvGrpSpPr>
          <p:cNvPr id="32" name="Group 32"/>
          <p:cNvGrpSpPr/>
          <p:nvPr/>
        </p:nvGrpSpPr>
        <p:grpSpPr>
          <a:xfrm>
            <a:off x="3154632" y="6411590"/>
            <a:ext cx="1677667" cy="271462"/>
            <a:chOff x="0" y="0"/>
            <a:chExt cx="2236889" cy="361950"/>
          </a:xfrm>
        </p:grpSpPr>
        <p:sp>
          <p:nvSpPr>
            <p:cNvPr id="33" name="Freeform 33" descr="image.png"/>
            <p:cNvSpPr/>
            <p:nvPr/>
          </p:nvSpPr>
          <p:spPr>
            <a:xfrm>
              <a:off x="0" y="0"/>
              <a:ext cx="2236851" cy="361950"/>
            </a:xfrm>
            <a:custGeom>
              <a:avLst/>
              <a:gdLst/>
              <a:ahLst/>
              <a:cxnLst/>
              <a:rect l="l" t="t" r="r" b="b"/>
              <a:pathLst>
                <a:path w="2236851" h="361950">
                  <a:moveTo>
                    <a:pt x="0" y="0"/>
                  </a:moveTo>
                  <a:lnTo>
                    <a:pt x="2236851" y="0"/>
                  </a:lnTo>
                  <a:lnTo>
                    <a:pt x="2236851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246" r="-247"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3153203" y="6679071"/>
            <a:ext cx="1566262" cy="271462"/>
            <a:chOff x="0" y="0"/>
            <a:chExt cx="2088350" cy="361950"/>
          </a:xfrm>
        </p:grpSpPr>
        <p:sp>
          <p:nvSpPr>
            <p:cNvPr id="35" name="Freeform 35" descr="image.png"/>
            <p:cNvSpPr/>
            <p:nvPr/>
          </p:nvSpPr>
          <p:spPr>
            <a:xfrm>
              <a:off x="0" y="0"/>
              <a:ext cx="2088388" cy="361950"/>
            </a:xfrm>
            <a:custGeom>
              <a:avLst/>
              <a:gdLst/>
              <a:ahLst/>
              <a:cxnLst/>
              <a:rect l="l" t="t" r="r" b="b"/>
              <a:pathLst>
                <a:path w="2088388" h="361950">
                  <a:moveTo>
                    <a:pt x="0" y="0"/>
                  </a:moveTo>
                  <a:lnTo>
                    <a:pt x="2088388" y="0"/>
                  </a:lnTo>
                  <a:lnTo>
                    <a:pt x="2088388" y="361950"/>
                  </a:lnTo>
                  <a:lnTo>
                    <a:pt x="0" y="3619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170" r="-169"/>
              </a:stretch>
            </a:blipFill>
          </p:spPr>
        </p:sp>
      </p:grpSp>
      <p:grpSp>
        <p:nvGrpSpPr>
          <p:cNvPr id="36" name="Group 36"/>
          <p:cNvGrpSpPr/>
          <p:nvPr/>
        </p:nvGrpSpPr>
        <p:grpSpPr>
          <a:xfrm>
            <a:off x="7115175" y="4129088"/>
            <a:ext cx="342900" cy="342900"/>
            <a:chOff x="0" y="0"/>
            <a:chExt cx="457200" cy="457200"/>
          </a:xfrm>
        </p:grpSpPr>
        <p:sp>
          <p:nvSpPr>
            <p:cNvPr id="37" name="Freeform 37" descr="image.png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2083" r="-2083"/>
              </a:stretch>
            </a:blipFill>
          </p:spPr>
        </p:sp>
      </p:grpSp>
      <p:grpSp>
        <p:nvGrpSpPr>
          <p:cNvPr id="40" name="Group 40"/>
          <p:cNvGrpSpPr/>
          <p:nvPr/>
        </p:nvGrpSpPr>
        <p:grpSpPr>
          <a:xfrm>
            <a:off x="12701588" y="4129088"/>
            <a:ext cx="428625" cy="342900"/>
            <a:chOff x="0" y="0"/>
            <a:chExt cx="571500" cy="457200"/>
          </a:xfrm>
        </p:grpSpPr>
        <p:sp>
          <p:nvSpPr>
            <p:cNvPr id="41" name="Freeform 41" descr="image.png"/>
            <p:cNvSpPr/>
            <p:nvPr/>
          </p:nvSpPr>
          <p:spPr>
            <a:xfrm>
              <a:off x="0" y="0"/>
              <a:ext cx="571500" cy="457200"/>
            </a:xfrm>
            <a:custGeom>
              <a:avLst/>
              <a:gdLst/>
              <a:ahLst/>
              <a:cxnLst/>
              <a:rect l="l" t="t" r="r" b="b"/>
              <a:pathLst>
                <a:path w="571500" h="457200">
                  <a:moveTo>
                    <a:pt x="0" y="0"/>
                  </a:moveTo>
                  <a:lnTo>
                    <a:pt x="571500" y="0"/>
                  </a:lnTo>
                  <a:lnTo>
                    <a:pt x="5715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1666" r="-1666"/>
              </a:stretch>
            </a:blipFill>
          </p:spPr>
        </p:sp>
      </p:grpSp>
      <p:sp>
        <p:nvSpPr>
          <p:cNvPr id="44" name="TextBox 44"/>
          <p:cNvSpPr txBox="1"/>
          <p:nvPr/>
        </p:nvSpPr>
        <p:spPr>
          <a:xfrm>
            <a:off x="3858339" y="2362200"/>
            <a:ext cx="9019461" cy="654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Structure &amp; Architecture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0" y="0"/>
            <a:ext cx="3510042" cy="1614719"/>
            <a:chOff x="0" y="0"/>
            <a:chExt cx="28997229" cy="1333955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8997228" cy="13339552"/>
            </a:xfrm>
            <a:custGeom>
              <a:avLst/>
              <a:gdLst/>
              <a:ahLst/>
              <a:cxnLst/>
              <a:rect l="l" t="t" r="r" b="b"/>
              <a:pathLst>
                <a:path w="28997228" h="13339552">
                  <a:moveTo>
                    <a:pt x="0" y="0"/>
                  </a:moveTo>
                  <a:lnTo>
                    <a:pt x="28997228" y="0"/>
                  </a:lnTo>
                  <a:lnTo>
                    <a:pt x="28997228" y="13339552"/>
                  </a:lnTo>
                  <a:lnTo>
                    <a:pt x="0" y="13339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t="-279" b="-279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71538" y="5736431"/>
            <a:ext cx="16544925" cy="57150"/>
            <a:chOff x="0" y="0"/>
            <a:chExt cx="22059900" cy="762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2059900" cy="76200"/>
            </a:xfrm>
            <a:custGeom>
              <a:avLst/>
              <a:gdLst/>
              <a:ahLst/>
              <a:cxnLst/>
              <a:rect l="l" t="t" r="r" b="b"/>
              <a:pathLst>
                <a:path w="22059900" h="76200">
                  <a:moveTo>
                    <a:pt x="0" y="0"/>
                  </a:moveTo>
                  <a:lnTo>
                    <a:pt x="22059900" y="0"/>
                  </a:lnTo>
                  <a:lnTo>
                    <a:pt x="220599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400" b="-1238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871538" y="6165056"/>
            <a:ext cx="3805161" cy="1779689"/>
            <a:chOff x="0" y="0"/>
            <a:chExt cx="5073548" cy="2372919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5073523" cy="2372868"/>
            </a:xfrm>
            <a:custGeom>
              <a:avLst/>
              <a:gdLst/>
              <a:ahLst/>
              <a:cxnLst/>
              <a:rect l="l" t="t" r="r" b="b"/>
              <a:pathLst>
                <a:path w="5073523" h="2372868">
                  <a:moveTo>
                    <a:pt x="0" y="0"/>
                  </a:moveTo>
                  <a:lnTo>
                    <a:pt x="5073523" y="0"/>
                  </a:lnTo>
                  <a:lnTo>
                    <a:pt x="5073523" y="2372868"/>
                  </a:lnTo>
                  <a:lnTo>
                    <a:pt x="0" y="2372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49" b="-45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118049" y="3585267"/>
            <a:ext cx="3805161" cy="1779689"/>
            <a:chOff x="0" y="0"/>
            <a:chExt cx="5073548" cy="2372919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5073523" cy="2372868"/>
            </a:xfrm>
            <a:custGeom>
              <a:avLst/>
              <a:gdLst/>
              <a:ahLst/>
              <a:cxnLst/>
              <a:rect l="l" t="t" r="r" b="b"/>
              <a:pathLst>
                <a:path w="5073523" h="2372868">
                  <a:moveTo>
                    <a:pt x="0" y="0"/>
                  </a:moveTo>
                  <a:lnTo>
                    <a:pt x="5073523" y="0"/>
                  </a:lnTo>
                  <a:lnTo>
                    <a:pt x="5073523" y="2372868"/>
                  </a:lnTo>
                  <a:lnTo>
                    <a:pt x="0" y="2372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61" b="-263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9364561" y="6165056"/>
            <a:ext cx="3805161" cy="1779689"/>
            <a:chOff x="0" y="0"/>
            <a:chExt cx="5073548" cy="2372919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5073523" cy="2372868"/>
            </a:xfrm>
            <a:custGeom>
              <a:avLst/>
              <a:gdLst/>
              <a:ahLst/>
              <a:cxnLst/>
              <a:rect l="l" t="t" r="r" b="b"/>
              <a:pathLst>
                <a:path w="5073523" h="2372868">
                  <a:moveTo>
                    <a:pt x="0" y="0"/>
                  </a:moveTo>
                  <a:lnTo>
                    <a:pt x="5073523" y="0"/>
                  </a:lnTo>
                  <a:lnTo>
                    <a:pt x="5073523" y="2372868"/>
                  </a:lnTo>
                  <a:lnTo>
                    <a:pt x="0" y="2372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61" b="-263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3611073" y="3585267"/>
            <a:ext cx="3805161" cy="1779689"/>
            <a:chOff x="0" y="0"/>
            <a:chExt cx="5073548" cy="2372919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5073523" cy="2372868"/>
            </a:xfrm>
            <a:custGeom>
              <a:avLst/>
              <a:gdLst/>
              <a:ahLst/>
              <a:cxnLst/>
              <a:rect l="l" t="t" r="r" b="b"/>
              <a:pathLst>
                <a:path w="5073523" h="2372868">
                  <a:moveTo>
                    <a:pt x="0" y="0"/>
                  </a:moveTo>
                  <a:lnTo>
                    <a:pt x="5073523" y="0"/>
                  </a:lnTo>
                  <a:lnTo>
                    <a:pt x="5073523" y="2372868"/>
                  </a:lnTo>
                  <a:lnTo>
                    <a:pt x="0" y="2372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449" b="-451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143000" y="6426994"/>
            <a:ext cx="342535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60A5FA"/>
                </a:solidFill>
                <a:latin typeface="Poppins"/>
                <a:ea typeface="Poppins"/>
                <a:cs typeface="Poppins"/>
                <a:sym typeface="Poppins"/>
              </a:rPr>
              <a:t>1. User Auth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3000" y="6855619"/>
            <a:ext cx="3262236" cy="817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5"/>
              </a:lnSpc>
            </a:pPr>
            <a:r>
              <a:rPr lang="en-US" sz="1462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Student/Jobseeker selects role, registers, and authenticates into the dashboard portal.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89512" y="3847205"/>
            <a:ext cx="342535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60A5FA"/>
                </a:solidFill>
                <a:latin typeface="Poppins"/>
                <a:ea typeface="Poppins"/>
                <a:cs typeface="Poppins"/>
                <a:sym typeface="Poppins"/>
              </a:rPr>
              <a:t>2. Mock Setup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89512" y="4275830"/>
            <a:ext cx="3262236" cy="817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5"/>
              </a:lnSpc>
            </a:pPr>
            <a:r>
              <a:rPr lang="en-US" sz="1462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Selects HR Behavioral or Technical track; system initializes dynamic 120s timer per question.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36023" y="6426994"/>
            <a:ext cx="342535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60A5FA"/>
                </a:solidFill>
                <a:latin typeface="Poppins"/>
                <a:ea typeface="Poppins"/>
                <a:cs typeface="Poppins"/>
                <a:sym typeface="Poppins"/>
              </a:rPr>
              <a:t>3. Practice Session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36023" y="6855619"/>
            <a:ext cx="3262236" cy="817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5"/>
              </a:lnSpc>
            </a:pPr>
            <a:r>
              <a:rPr lang="en-US" sz="1462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Candidate types or dictates speech answer using active microphone voice recorder UI.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882535" y="3847205"/>
            <a:ext cx="342535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60A5FA"/>
                </a:solidFill>
                <a:latin typeface="Poppins"/>
                <a:ea typeface="Poppins"/>
                <a:cs typeface="Poppins"/>
                <a:sym typeface="Poppins"/>
              </a:rPr>
              <a:t>4. AI Evaluation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882535" y="4275830"/>
            <a:ext cx="3262236" cy="817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5"/>
              </a:lnSpc>
            </a:pPr>
            <a:r>
              <a:rPr lang="en-US" sz="1462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Answers analyzed; detailed metric scores &amp; tips generated and synced to MongoDB.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19636" y="2015280"/>
            <a:ext cx="7207110" cy="654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Workflow Pipeline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2588381" y="5579269"/>
            <a:ext cx="371475" cy="371475"/>
            <a:chOff x="0" y="0"/>
            <a:chExt cx="495300" cy="4953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cubicBezTo>
                    <a:pt x="384429" y="0"/>
                    <a:pt x="495300" y="110871"/>
                    <a:pt x="495300" y="247650"/>
                  </a:cubicBezTo>
                  <a:cubicBezTo>
                    <a:pt x="495300" y="384429"/>
                    <a:pt x="384429" y="495300"/>
                    <a:pt x="247650" y="495300"/>
                  </a:cubicBezTo>
                  <a:cubicBezTo>
                    <a:pt x="110871" y="495300"/>
                    <a:pt x="0" y="384429"/>
                    <a:pt x="0" y="247650"/>
                  </a:cubicBezTo>
                  <a:close/>
                </a:path>
              </a:pathLst>
            </a:custGeom>
            <a:solidFill>
              <a:srgbClr val="111827"/>
            </a:solidFill>
            <a:ln w="57150" cap="sq">
              <a:solidFill>
                <a:srgbClr val="60A5FA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6834892" y="5579269"/>
            <a:ext cx="371475" cy="371475"/>
            <a:chOff x="0" y="0"/>
            <a:chExt cx="495300" cy="4953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cubicBezTo>
                    <a:pt x="384429" y="0"/>
                    <a:pt x="495300" y="110871"/>
                    <a:pt x="495300" y="247650"/>
                  </a:cubicBezTo>
                  <a:cubicBezTo>
                    <a:pt x="495300" y="384429"/>
                    <a:pt x="384429" y="495300"/>
                    <a:pt x="247650" y="495300"/>
                  </a:cubicBezTo>
                  <a:cubicBezTo>
                    <a:pt x="110871" y="495300"/>
                    <a:pt x="0" y="384429"/>
                    <a:pt x="0" y="247650"/>
                  </a:cubicBezTo>
                  <a:close/>
                </a:path>
              </a:pathLst>
            </a:custGeom>
            <a:solidFill>
              <a:srgbClr val="111827"/>
            </a:solidFill>
            <a:ln w="57150" cap="sq">
              <a:solidFill>
                <a:srgbClr val="60A5FA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1081404" y="5579269"/>
            <a:ext cx="371475" cy="371475"/>
            <a:chOff x="0" y="0"/>
            <a:chExt cx="495300" cy="4953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cubicBezTo>
                    <a:pt x="384429" y="0"/>
                    <a:pt x="495300" y="110871"/>
                    <a:pt x="495300" y="247650"/>
                  </a:cubicBezTo>
                  <a:cubicBezTo>
                    <a:pt x="495300" y="384429"/>
                    <a:pt x="384429" y="495300"/>
                    <a:pt x="247650" y="495300"/>
                  </a:cubicBezTo>
                  <a:cubicBezTo>
                    <a:pt x="110871" y="495300"/>
                    <a:pt x="0" y="384429"/>
                    <a:pt x="0" y="247650"/>
                  </a:cubicBezTo>
                  <a:close/>
                </a:path>
              </a:pathLst>
            </a:custGeom>
            <a:solidFill>
              <a:srgbClr val="111827"/>
            </a:solidFill>
            <a:ln w="57150" cap="sq">
              <a:solidFill>
                <a:srgbClr val="60A5FA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15327916" y="5579269"/>
            <a:ext cx="371475" cy="371475"/>
            <a:chOff x="0" y="0"/>
            <a:chExt cx="495300" cy="4953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cubicBezTo>
                    <a:pt x="384429" y="0"/>
                    <a:pt x="495300" y="110871"/>
                    <a:pt x="495300" y="247650"/>
                  </a:cubicBezTo>
                  <a:cubicBezTo>
                    <a:pt x="495300" y="384429"/>
                    <a:pt x="384429" y="495300"/>
                    <a:pt x="247650" y="495300"/>
                  </a:cubicBezTo>
                  <a:cubicBezTo>
                    <a:pt x="110871" y="495300"/>
                    <a:pt x="0" y="384429"/>
                    <a:pt x="0" y="247650"/>
                  </a:cubicBezTo>
                  <a:close/>
                </a:path>
              </a:pathLst>
            </a:custGeom>
            <a:solidFill>
              <a:srgbClr val="111827"/>
            </a:solidFill>
            <a:ln w="57150" cap="sq">
              <a:solidFill>
                <a:srgbClr val="60A5FA"/>
              </a:soli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0" y="0"/>
            <a:ext cx="3510042" cy="1614719"/>
            <a:chOff x="0" y="0"/>
            <a:chExt cx="28997229" cy="1333955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8997228" cy="13339552"/>
            </a:xfrm>
            <a:custGeom>
              <a:avLst/>
              <a:gdLst/>
              <a:ahLst/>
              <a:cxnLst/>
              <a:rect l="l" t="t" r="r" b="b"/>
              <a:pathLst>
                <a:path w="28997228" h="13339552">
                  <a:moveTo>
                    <a:pt x="0" y="0"/>
                  </a:moveTo>
                  <a:lnTo>
                    <a:pt x="28997228" y="0"/>
                  </a:lnTo>
                  <a:lnTo>
                    <a:pt x="28997228" y="13339552"/>
                  </a:lnTo>
                  <a:lnTo>
                    <a:pt x="0" y="13339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279" b="-279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825969" y="2397436"/>
            <a:ext cx="8386048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Mock Simulator Module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429750" y="14288"/>
            <a:ext cx="8843962" cy="10287000"/>
            <a:chOff x="0" y="0"/>
            <a:chExt cx="11791950" cy="13716000"/>
          </a:xfrm>
        </p:grpSpPr>
        <p:sp>
          <p:nvSpPr>
            <p:cNvPr id="6" name="Freeform 6" descr="image.png"/>
            <p:cNvSpPr/>
            <p:nvPr/>
          </p:nvSpPr>
          <p:spPr>
            <a:xfrm>
              <a:off x="0" y="0"/>
              <a:ext cx="11791950" cy="13716000"/>
            </a:xfrm>
            <a:custGeom>
              <a:avLst/>
              <a:gdLst/>
              <a:ahLst/>
              <a:cxnLst/>
              <a:rect l="l" t="t" r="r" b="b"/>
              <a:pathLst>
                <a:path w="11791950" h="13716000">
                  <a:moveTo>
                    <a:pt x="0" y="0"/>
                  </a:moveTo>
                  <a:lnTo>
                    <a:pt x="11791950" y="0"/>
                  </a:lnTo>
                  <a:lnTo>
                    <a:pt x="1179195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0" r="-80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552561" y="4072555"/>
            <a:ext cx="8386048" cy="528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60A5FA"/>
                </a:solidFill>
                <a:latin typeface="Poppins Bold"/>
                <a:ea typeface="Poppins Bold"/>
                <a:cs typeface="Poppins Bold"/>
                <a:sym typeface="Poppins Bold"/>
              </a:rPr>
              <a:t>Real-Time Practice Engine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2561" y="5331073"/>
            <a:ext cx="7986712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Features a 120-second dynamic countdown timer per question, a live voice recording interface, and an interactive question navigator.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3697" y="6353982"/>
            <a:ext cx="7986712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Supports HR Behavioral (STAR method) and Core Technical tracks to build muscle memory under authentic time limits.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0" y="0"/>
            <a:ext cx="3510042" cy="1614719"/>
            <a:chOff x="0" y="0"/>
            <a:chExt cx="28997229" cy="1333955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997228" cy="13339552"/>
            </a:xfrm>
            <a:custGeom>
              <a:avLst/>
              <a:gdLst/>
              <a:ahLst/>
              <a:cxnLst/>
              <a:rect l="l" t="t" r="r" b="b"/>
              <a:pathLst>
                <a:path w="28997228" h="13339552">
                  <a:moveTo>
                    <a:pt x="0" y="0"/>
                  </a:moveTo>
                  <a:lnTo>
                    <a:pt x="28997228" y="0"/>
                  </a:lnTo>
                  <a:lnTo>
                    <a:pt x="28997228" y="13339552"/>
                  </a:lnTo>
                  <a:lnTo>
                    <a:pt x="0" y="13339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79" b="-279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520366" y="2204557"/>
            <a:ext cx="15738934" cy="7217076"/>
            <a:chOff x="0" y="0"/>
            <a:chExt cx="22059900" cy="101155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2059900" cy="10115550"/>
            </a:xfrm>
            <a:custGeom>
              <a:avLst/>
              <a:gdLst/>
              <a:ahLst/>
              <a:cxnLst/>
              <a:rect l="l" t="t" r="r" b="b"/>
              <a:pathLst>
                <a:path w="22059900" h="10115550">
                  <a:moveTo>
                    <a:pt x="0" y="0"/>
                  </a:moveTo>
                  <a:lnTo>
                    <a:pt x="22059900" y="0"/>
                  </a:lnTo>
                  <a:lnTo>
                    <a:pt x="22059900" y="10115550"/>
                  </a:lnTo>
                  <a:lnTo>
                    <a:pt x="0" y="10115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1" b="-101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871538" y="7703344"/>
            <a:ext cx="16544925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i="1">
                <a:solidFill>
                  <a:srgbClr val="9CA3A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Performance Metric Sample: Multi-dimensional evaluation across communication clarity, structure, and candidate confidence.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30926" y="1929631"/>
            <a:ext cx="7826148" cy="6540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Feedback &amp; Skill Evaluation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0" y="0"/>
            <a:ext cx="3510042" cy="1614719"/>
            <a:chOff x="0" y="0"/>
            <a:chExt cx="28997229" cy="1333955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997228" cy="13339552"/>
            </a:xfrm>
            <a:custGeom>
              <a:avLst/>
              <a:gdLst/>
              <a:ahLst/>
              <a:cxnLst/>
              <a:rect l="l" t="t" r="r" b="b"/>
              <a:pathLst>
                <a:path w="28997228" h="13339552">
                  <a:moveTo>
                    <a:pt x="0" y="0"/>
                  </a:moveTo>
                  <a:lnTo>
                    <a:pt x="28997228" y="0"/>
                  </a:lnTo>
                  <a:lnTo>
                    <a:pt x="28997228" y="13339552"/>
                  </a:lnTo>
                  <a:lnTo>
                    <a:pt x="0" y="13339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79" b="-279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429750" y="3050381"/>
            <a:ext cx="7986712" cy="5429250"/>
            <a:chOff x="0" y="0"/>
            <a:chExt cx="10648950" cy="72390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0648950" cy="7239000"/>
            </a:xfrm>
            <a:custGeom>
              <a:avLst/>
              <a:gdLst/>
              <a:ahLst/>
              <a:cxnLst/>
              <a:rect l="l" t="t" r="r" b="b"/>
              <a:pathLst>
                <a:path w="10648950" h="7239000">
                  <a:moveTo>
                    <a:pt x="0" y="0"/>
                  </a:moveTo>
                  <a:lnTo>
                    <a:pt x="10648950" y="0"/>
                  </a:lnTo>
                  <a:lnTo>
                    <a:pt x="10648950" y="7239000"/>
                  </a:lnTo>
                  <a:lnTo>
                    <a:pt x="0" y="72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2" b="-41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271588" y="3917156"/>
            <a:ext cx="7586662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1">
                <a:solidFill>
                  <a:srgbClr val="E5E7EB"/>
                </a:solidFill>
                <a:latin typeface="Poppins Bold"/>
                <a:ea typeface="Poppins Bold"/>
                <a:cs typeface="Poppins Bold"/>
                <a:sym typeface="Poppins Bold"/>
              </a:rPr>
              <a:t>Real-Time Score Rings:</a:t>
            </a:r>
            <a:r>
              <a:rPr lang="en-US" sz="1800">
                <a:solidFill>
                  <a:srgbClr val="D1D5DB"/>
                </a:solidFill>
                <a:latin typeface="Poppins"/>
                <a:ea typeface="Poppins"/>
                <a:cs typeface="Poppins"/>
                <a:sym typeface="Poppins"/>
              </a:rPr>
              <a:t> Dynamic visual indicators displaying individual session and cumulative overall scores.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71588" y="4802981"/>
            <a:ext cx="7586662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1">
                <a:solidFill>
                  <a:srgbClr val="E5E7EB"/>
                </a:solidFill>
                <a:latin typeface="Poppins Bold"/>
                <a:ea typeface="Poppins Bold"/>
                <a:cs typeface="Poppins Bold"/>
                <a:sym typeface="Poppins Bold"/>
              </a:rPr>
              <a:t>Skill Progress Breakdown:</a:t>
            </a:r>
            <a:r>
              <a:rPr lang="en-US" sz="1800">
                <a:solidFill>
                  <a:srgbClr val="D1D5DB"/>
                </a:solidFill>
                <a:latin typeface="Poppins"/>
                <a:ea typeface="Poppins"/>
                <a:cs typeface="Poppins"/>
                <a:sym typeface="Poppins"/>
              </a:rPr>
              <a:t> Tracks linear metrics across communication, confidence, grammar, and fluency.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1588" y="5688806"/>
            <a:ext cx="7586662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1">
                <a:solidFill>
                  <a:srgbClr val="E5E7EB"/>
                </a:solidFill>
                <a:latin typeface="Poppins Bold"/>
                <a:ea typeface="Poppins Bold"/>
                <a:cs typeface="Poppins Bold"/>
                <a:sym typeface="Poppins Bold"/>
              </a:rPr>
              <a:t>Activity Feed:</a:t>
            </a:r>
            <a:r>
              <a:rPr lang="en-US" sz="1800">
                <a:solidFill>
                  <a:srgbClr val="D1D5DB"/>
                </a:solidFill>
                <a:latin typeface="Poppins"/>
                <a:ea typeface="Poppins"/>
                <a:cs typeface="Poppins"/>
                <a:sym typeface="Poppins"/>
              </a:rPr>
              <a:t> Logs past interview history, completed sessions, and recent performance updates.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71588" y="6574631"/>
            <a:ext cx="7586662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1">
                <a:solidFill>
                  <a:srgbClr val="E5E7EB"/>
                </a:solidFill>
                <a:latin typeface="Poppins Bold"/>
                <a:ea typeface="Poppins Bold"/>
                <a:cs typeface="Poppins Bold"/>
                <a:sym typeface="Poppins Bold"/>
              </a:rPr>
              <a:t>Actionable Tips:</a:t>
            </a:r>
            <a:r>
              <a:rPr lang="en-US" sz="1800">
                <a:solidFill>
                  <a:srgbClr val="D1D5DB"/>
                </a:solidFill>
                <a:latin typeface="Poppins"/>
                <a:ea typeface="Poppins"/>
                <a:cs typeface="Poppins"/>
                <a:sym typeface="Poppins"/>
              </a:rPr>
              <a:t> Provides personalized prompt cards to eliminate filler words and apply STAR framework.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444038" y="3064669"/>
            <a:ext cx="7958138" cy="5400675"/>
            <a:chOff x="0" y="0"/>
            <a:chExt cx="10610850" cy="72009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10610850" cy="7200900"/>
            </a:xfrm>
            <a:custGeom>
              <a:avLst/>
              <a:gdLst/>
              <a:ahLst/>
              <a:cxnLst/>
              <a:rect l="l" t="t" r="r" b="b"/>
              <a:pathLst>
                <a:path w="10610850" h="7200900">
                  <a:moveTo>
                    <a:pt x="0" y="0"/>
                  </a:moveTo>
                  <a:lnTo>
                    <a:pt x="10610850" y="0"/>
                  </a:lnTo>
                  <a:lnTo>
                    <a:pt x="10610850" y="7200900"/>
                  </a:lnTo>
                  <a:lnTo>
                    <a:pt x="0" y="720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6" b="-126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871538" y="3898106"/>
            <a:ext cx="2286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1">
                <a:solidFill>
                  <a:srgbClr val="3B82F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1538" y="4783931"/>
            <a:ext cx="2286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1">
                <a:solidFill>
                  <a:srgbClr val="3B82F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1538" y="5669756"/>
            <a:ext cx="2286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1">
                <a:solidFill>
                  <a:srgbClr val="3B82F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1538" y="6555581"/>
            <a:ext cx="2286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1">
                <a:solidFill>
                  <a:srgbClr val="3B82F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3664" y="2588419"/>
            <a:ext cx="17372171" cy="862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Analytics &amp; Dashboard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0" y="0"/>
            <a:ext cx="3510042" cy="1614719"/>
            <a:chOff x="0" y="0"/>
            <a:chExt cx="28997229" cy="1333955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8997228" cy="13339552"/>
            </a:xfrm>
            <a:custGeom>
              <a:avLst/>
              <a:gdLst/>
              <a:ahLst/>
              <a:cxnLst/>
              <a:rect l="l" t="t" r="r" b="b"/>
              <a:pathLst>
                <a:path w="28997228" h="13339552">
                  <a:moveTo>
                    <a:pt x="0" y="0"/>
                  </a:moveTo>
                  <a:lnTo>
                    <a:pt x="28997228" y="0"/>
                  </a:lnTo>
                  <a:lnTo>
                    <a:pt x="28997228" y="13339552"/>
                  </a:lnTo>
                  <a:lnTo>
                    <a:pt x="0" y="13339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79" b="-279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71538" y="4550569"/>
            <a:ext cx="7986712" cy="1857375"/>
            <a:chOff x="0" y="0"/>
            <a:chExt cx="10648950" cy="24765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0648950" cy="2476500"/>
            </a:xfrm>
            <a:custGeom>
              <a:avLst/>
              <a:gdLst/>
              <a:ahLst/>
              <a:cxnLst/>
              <a:rect l="l" t="t" r="r" b="b"/>
              <a:pathLst>
                <a:path w="10648950" h="2476500">
                  <a:moveTo>
                    <a:pt x="0" y="0"/>
                  </a:moveTo>
                  <a:lnTo>
                    <a:pt x="10648950" y="0"/>
                  </a:lnTo>
                  <a:lnTo>
                    <a:pt x="10648950" y="2476500"/>
                  </a:lnTo>
                  <a:lnTo>
                    <a:pt x="0" y="2476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94" b="-294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871538" y="6522244"/>
            <a:ext cx="7986712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>
                <a:solidFill>
                  <a:srgbClr val="E5E7EB"/>
                </a:solidFill>
                <a:latin typeface="Poppins"/>
                <a:ea typeface="Poppins"/>
                <a:cs typeface="Poppins"/>
                <a:sym typeface="Poppins"/>
              </a:rPr>
              <a:t>Overall Completion Score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29750" y="4767262"/>
            <a:ext cx="8386048" cy="433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7"/>
              </a:lnSpc>
            </a:pPr>
            <a:r>
              <a:rPr lang="en-US" sz="210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Quantifiable Growth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29750" y="5124450"/>
            <a:ext cx="7986712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Through structured practice sessions, candidates demonstrate a 12% increase in interview completion rate and a 5% average score improvement per month. Daily streaks keep students consistently engaged prior to placement drives.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5829" y="2564519"/>
            <a:ext cx="17372171" cy="862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Candidate Impact Metrics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0" y="0"/>
            <a:ext cx="3510042" cy="1614719"/>
            <a:chOff x="0" y="0"/>
            <a:chExt cx="28997229" cy="1333955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997228" cy="13339552"/>
            </a:xfrm>
            <a:custGeom>
              <a:avLst/>
              <a:gdLst/>
              <a:ahLst/>
              <a:cxnLst/>
              <a:rect l="l" t="t" r="r" b="b"/>
              <a:pathLst>
                <a:path w="28997228" h="13339552">
                  <a:moveTo>
                    <a:pt x="0" y="0"/>
                  </a:moveTo>
                  <a:lnTo>
                    <a:pt x="28997228" y="0"/>
                  </a:lnTo>
                  <a:lnTo>
                    <a:pt x="28997228" y="13339552"/>
                  </a:lnTo>
                  <a:lnTo>
                    <a:pt x="0" y="13339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79" b="-279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71538" y="4114800"/>
            <a:ext cx="5286375" cy="3300412"/>
            <a:chOff x="0" y="0"/>
            <a:chExt cx="7048500" cy="440055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7048500" cy="4400550"/>
            </a:xfrm>
            <a:custGeom>
              <a:avLst/>
              <a:gdLst/>
              <a:ahLst/>
              <a:cxnLst/>
              <a:rect l="l" t="t" r="r" b="b"/>
              <a:pathLst>
                <a:path w="7048500" h="4400550">
                  <a:moveTo>
                    <a:pt x="0" y="0"/>
                  </a:moveTo>
                  <a:lnTo>
                    <a:pt x="7048500" y="0"/>
                  </a:lnTo>
                  <a:lnTo>
                    <a:pt x="7048500" y="4400550"/>
                  </a:lnTo>
                  <a:lnTo>
                    <a:pt x="0" y="440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5" r="-135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6500812" y="4114800"/>
            <a:ext cx="5286375" cy="3300412"/>
            <a:chOff x="0" y="0"/>
            <a:chExt cx="7048500" cy="4400550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7048500" cy="4400550"/>
            </a:xfrm>
            <a:custGeom>
              <a:avLst/>
              <a:gdLst/>
              <a:ahLst/>
              <a:cxnLst/>
              <a:rect l="l" t="t" r="r" b="b"/>
              <a:pathLst>
                <a:path w="7048500" h="4400550">
                  <a:moveTo>
                    <a:pt x="0" y="0"/>
                  </a:moveTo>
                  <a:lnTo>
                    <a:pt x="7048500" y="0"/>
                  </a:lnTo>
                  <a:lnTo>
                    <a:pt x="7048500" y="4400550"/>
                  </a:lnTo>
                  <a:lnTo>
                    <a:pt x="0" y="440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0" r="-270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2130088" y="4114800"/>
            <a:ext cx="5286375" cy="3300412"/>
            <a:chOff x="0" y="0"/>
            <a:chExt cx="7048500" cy="4400550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7048500" cy="4400550"/>
            </a:xfrm>
            <a:custGeom>
              <a:avLst/>
              <a:gdLst/>
              <a:ahLst/>
              <a:cxnLst/>
              <a:rect l="l" t="t" r="r" b="b"/>
              <a:pathLst>
                <a:path w="7048500" h="4400550">
                  <a:moveTo>
                    <a:pt x="0" y="0"/>
                  </a:moveTo>
                  <a:lnTo>
                    <a:pt x="7048500" y="0"/>
                  </a:lnTo>
                  <a:lnTo>
                    <a:pt x="7048500" y="4400550"/>
                  </a:lnTo>
                  <a:lnTo>
                    <a:pt x="0" y="44005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70" r="-27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285875" y="4529138"/>
            <a:ext cx="742950" cy="742950"/>
            <a:chOff x="0" y="0"/>
            <a:chExt cx="990600" cy="9906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990600" cy="990600"/>
            </a:xfrm>
            <a:custGeom>
              <a:avLst/>
              <a:gdLst/>
              <a:ahLst/>
              <a:cxnLst/>
              <a:rect l="l" t="t" r="r" b="b"/>
              <a:pathLst>
                <a:path w="990600" h="990600">
                  <a:moveTo>
                    <a:pt x="0" y="0"/>
                  </a:moveTo>
                  <a:lnTo>
                    <a:pt x="990600" y="0"/>
                  </a:lnTo>
                  <a:lnTo>
                    <a:pt x="9906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285875" y="5500687"/>
            <a:ext cx="2520315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3F4F6"/>
                </a:solidFill>
                <a:latin typeface="Poppins"/>
                <a:ea typeface="Poppins"/>
                <a:cs typeface="Poppins"/>
                <a:sym typeface="Poppins"/>
              </a:rPr>
              <a:t>Practice Streaks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5875" y="6043612"/>
            <a:ext cx="4457700" cy="957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Tracks consecutive practice days (e.g., 9-day streak) to build muscle memory and articulate speech habits.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915150" y="4529138"/>
            <a:ext cx="742950" cy="742950"/>
            <a:chOff x="0" y="0"/>
            <a:chExt cx="990600" cy="990600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990600" cy="990600"/>
            </a:xfrm>
            <a:custGeom>
              <a:avLst/>
              <a:gdLst/>
              <a:ahLst/>
              <a:cxnLst/>
              <a:rect l="l" t="t" r="r" b="b"/>
              <a:pathLst>
                <a:path w="990600" h="990600">
                  <a:moveTo>
                    <a:pt x="0" y="0"/>
                  </a:moveTo>
                  <a:lnTo>
                    <a:pt x="990600" y="0"/>
                  </a:lnTo>
                  <a:lnTo>
                    <a:pt x="9906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961" r="-961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6915150" y="5500687"/>
            <a:ext cx="3315414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3F4F6"/>
                </a:solidFill>
                <a:latin typeface="Poppins"/>
                <a:ea typeface="Poppins"/>
                <a:cs typeface="Poppins"/>
                <a:sym typeface="Poppins"/>
              </a:rPr>
              <a:t>Achievement System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15150" y="6043612"/>
            <a:ext cx="4457700" cy="957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Unlocks milestone badges such as "First Steps", "7-Day Streak", and "Tech Pro" to keep candidates motivated.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2544425" y="4529138"/>
            <a:ext cx="742950" cy="742950"/>
            <a:chOff x="0" y="0"/>
            <a:chExt cx="990600" cy="990600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990600" cy="990600"/>
            </a:xfrm>
            <a:custGeom>
              <a:avLst/>
              <a:gdLst/>
              <a:ahLst/>
              <a:cxnLst/>
              <a:rect l="l" t="t" r="r" b="b"/>
              <a:pathLst>
                <a:path w="990600" h="990600">
                  <a:moveTo>
                    <a:pt x="0" y="0"/>
                  </a:moveTo>
                  <a:lnTo>
                    <a:pt x="990600" y="0"/>
                  </a:lnTo>
                  <a:lnTo>
                    <a:pt x="990600" y="990600"/>
                  </a:lnTo>
                  <a:lnTo>
                    <a:pt x="0" y="990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961" r="-961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12544425" y="5500687"/>
            <a:ext cx="1845231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F3F4F6"/>
                </a:solidFill>
                <a:latin typeface="Poppins"/>
                <a:ea typeface="Poppins"/>
                <a:cs typeface="Poppins"/>
                <a:sym typeface="Poppins"/>
              </a:rPr>
              <a:t>Certificates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44425" y="6043612"/>
            <a:ext cx="4457700" cy="957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575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Generates downloadable certificates (HR Interview Mastery, Technical Fundamentals) upon achieving target scores.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507331" y="4729162"/>
            <a:ext cx="300038" cy="342900"/>
            <a:chOff x="0" y="0"/>
            <a:chExt cx="400050" cy="457200"/>
          </a:xfrm>
        </p:grpSpPr>
        <p:sp>
          <p:nvSpPr>
            <p:cNvPr id="23" name="Freeform 23" descr="image.png"/>
            <p:cNvSpPr/>
            <p:nvPr/>
          </p:nvSpPr>
          <p:spPr>
            <a:xfrm>
              <a:off x="0" y="0"/>
              <a:ext cx="400050" cy="457200"/>
            </a:xfrm>
            <a:custGeom>
              <a:avLst/>
              <a:gdLst/>
              <a:ahLst/>
              <a:cxnLst/>
              <a:rect l="l" t="t" r="r" b="b"/>
              <a:pathLst>
                <a:path w="400050" h="457200">
                  <a:moveTo>
                    <a:pt x="0" y="0"/>
                  </a:moveTo>
                  <a:lnTo>
                    <a:pt x="400050" y="0"/>
                  </a:lnTo>
                  <a:lnTo>
                    <a:pt x="4000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380" r="-2380"/>
              </a:stretch>
            </a:blipFill>
          </p:spPr>
        </p:sp>
      </p:grpSp>
      <p:grpSp>
        <p:nvGrpSpPr>
          <p:cNvPr id="24" name="Group 24"/>
          <p:cNvGrpSpPr/>
          <p:nvPr/>
        </p:nvGrpSpPr>
        <p:grpSpPr>
          <a:xfrm>
            <a:off x="7093744" y="4729162"/>
            <a:ext cx="385762" cy="342900"/>
            <a:chOff x="0" y="0"/>
            <a:chExt cx="514350" cy="457200"/>
          </a:xfrm>
        </p:grpSpPr>
        <p:sp>
          <p:nvSpPr>
            <p:cNvPr id="25" name="Freeform 25" descr="image.png"/>
            <p:cNvSpPr/>
            <p:nvPr/>
          </p:nvSpPr>
          <p:spPr>
            <a:xfrm>
              <a:off x="0" y="0"/>
              <a:ext cx="514350" cy="457200"/>
            </a:xfrm>
            <a:custGeom>
              <a:avLst/>
              <a:gdLst/>
              <a:ahLst/>
              <a:cxnLst/>
              <a:rect l="l" t="t" r="r" b="b"/>
              <a:pathLst>
                <a:path w="514350" h="457200">
                  <a:moveTo>
                    <a:pt x="0" y="0"/>
                  </a:moveTo>
                  <a:lnTo>
                    <a:pt x="514350" y="0"/>
                  </a:lnTo>
                  <a:lnTo>
                    <a:pt x="51435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851" r="-1851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12744450" y="4729162"/>
            <a:ext cx="342900" cy="342900"/>
            <a:chOff x="0" y="0"/>
            <a:chExt cx="457200" cy="457200"/>
          </a:xfrm>
        </p:grpSpPr>
        <p:sp>
          <p:nvSpPr>
            <p:cNvPr id="27" name="Freeform 27" descr="image.png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2083" r="-2083"/>
              </a:stretch>
            </a:blipFill>
          </p:spPr>
        </p:sp>
      </p:grpSp>
      <p:sp>
        <p:nvSpPr>
          <p:cNvPr id="28" name="TextBox 28"/>
          <p:cNvSpPr txBox="1"/>
          <p:nvPr/>
        </p:nvSpPr>
        <p:spPr>
          <a:xfrm>
            <a:off x="915829" y="2564519"/>
            <a:ext cx="17372171" cy="862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Gamification &amp; Badges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0" y="0"/>
            <a:ext cx="3510042" cy="1614719"/>
            <a:chOff x="0" y="0"/>
            <a:chExt cx="28997229" cy="1333955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8997228" cy="13339552"/>
            </a:xfrm>
            <a:custGeom>
              <a:avLst/>
              <a:gdLst/>
              <a:ahLst/>
              <a:cxnLst/>
              <a:rect l="l" t="t" r="r" b="b"/>
              <a:pathLst>
                <a:path w="28997228" h="13339552">
                  <a:moveTo>
                    <a:pt x="0" y="0"/>
                  </a:moveTo>
                  <a:lnTo>
                    <a:pt x="28997228" y="0"/>
                  </a:lnTo>
                  <a:lnTo>
                    <a:pt x="28997228" y="13339552"/>
                  </a:lnTo>
                  <a:lnTo>
                    <a:pt x="0" y="13339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279" b="-279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9429750" y="3050381"/>
            <a:ext cx="7986712" cy="5429250"/>
            <a:chOff x="0" y="0"/>
            <a:chExt cx="10648950" cy="72390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10648950" cy="7239000"/>
            </a:xfrm>
            <a:custGeom>
              <a:avLst/>
              <a:gdLst/>
              <a:ahLst/>
              <a:cxnLst/>
              <a:rect l="l" t="t" r="r" b="b"/>
              <a:pathLst>
                <a:path w="10648950" h="7239000">
                  <a:moveTo>
                    <a:pt x="0" y="0"/>
                  </a:moveTo>
                  <a:lnTo>
                    <a:pt x="10648950" y="0"/>
                  </a:lnTo>
                  <a:lnTo>
                    <a:pt x="10648950" y="7239000"/>
                  </a:lnTo>
                  <a:lnTo>
                    <a:pt x="0" y="723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2" b="-41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1271588" y="3745706"/>
            <a:ext cx="7586662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1">
                <a:solidFill>
                  <a:srgbClr val="E5E7EB"/>
                </a:solidFill>
                <a:latin typeface="Poppins Bold"/>
                <a:ea typeface="Poppins Bold"/>
                <a:cs typeface="Poppins Bold"/>
                <a:sym typeface="Poppins Bold"/>
              </a:rPr>
              <a:t>Frontend UI:</a:t>
            </a:r>
            <a:r>
              <a:rPr lang="en-US" sz="1800">
                <a:solidFill>
                  <a:srgbClr val="D1D5DB"/>
                </a:solidFill>
                <a:latin typeface="Poppins"/>
                <a:ea typeface="Poppins"/>
                <a:cs typeface="Poppins"/>
                <a:sym typeface="Poppins"/>
              </a:rPr>
              <a:t> HTML5, CSS3 Glassmorphism UI with native dark mode support, and Bootstrap 5 grid layout.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71588" y="4631531"/>
            <a:ext cx="7586662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1">
                <a:solidFill>
                  <a:srgbClr val="E5E7EB"/>
                </a:solidFill>
                <a:latin typeface="Poppins Bold"/>
                <a:ea typeface="Poppins Bold"/>
                <a:cs typeface="Poppins Bold"/>
                <a:sym typeface="Poppins Bold"/>
              </a:rPr>
              <a:t>Vanilla JavaScript Engine:</a:t>
            </a:r>
            <a:r>
              <a:rPr lang="en-US" sz="1800">
                <a:solidFill>
                  <a:srgbClr val="D1D5DB"/>
                </a:solidFill>
                <a:latin typeface="Poppins"/>
                <a:ea typeface="Poppins"/>
                <a:cs typeface="Poppins"/>
                <a:sym typeface="Poppins"/>
              </a:rPr>
              <a:t> Lightweight DOM manipulation, dynamic timer logic, and form validation.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71588" y="5517356"/>
            <a:ext cx="7586662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1">
                <a:solidFill>
                  <a:srgbClr val="E5E7EB"/>
                </a:solidFill>
                <a:latin typeface="Poppins Bold"/>
                <a:ea typeface="Poppins Bold"/>
                <a:cs typeface="Poppins Bold"/>
                <a:sym typeface="Poppins Bold"/>
              </a:rPr>
              <a:t>MongoDB Integration (Database):</a:t>
            </a:r>
            <a:r>
              <a:rPr lang="en-US" sz="1800">
                <a:solidFill>
                  <a:srgbClr val="D1D5DB"/>
                </a:solidFill>
                <a:latin typeface="Poppins"/>
                <a:ea typeface="Poppins"/>
                <a:cs typeface="Poppins"/>
                <a:sym typeface="Poppins"/>
              </a:rPr>
              <a:t> Implementing MongoDB for persistent storage of user profiles, session logs, scores, and certificates.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71588" y="6746081"/>
            <a:ext cx="7586662" cy="762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1">
                <a:solidFill>
                  <a:srgbClr val="E5E7EB"/>
                </a:solidFill>
                <a:latin typeface="Poppins Bold"/>
                <a:ea typeface="Poppins Bold"/>
                <a:cs typeface="Poppins Bold"/>
                <a:sym typeface="Poppins Bold"/>
              </a:rPr>
              <a:t>Data Security &amp; Auth:</a:t>
            </a:r>
            <a:r>
              <a:rPr lang="en-US" sz="1800">
                <a:solidFill>
                  <a:srgbClr val="D1D5DB"/>
                </a:solidFill>
                <a:latin typeface="Poppins"/>
                <a:ea typeface="Poppins"/>
                <a:cs typeface="Poppins"/>
                <a:sym typeface="Poppins"/>
              </a:rPr>
              <a:t> Storing hashed credentials, session tokens, and interview transcripts securely in MongoDB.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444038" y="3064669"/>
            <a:ext cx="7958138" cy="5400675"/>
            <a:chOff x="0" y="0"/>
            <a:chExt cx="10610850" cy="7200900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10610850" cy="7200900"/>
            </a:xfrm>
            <a:custGeom>
              <a:avLst/>
              <a:gdLst/>
              <a:ahLst/>
              <a:cxnLst/>
              <a:rect l="l" t="t" r="r" b="b"/>
              <a:pathLst>
                <a:path w="10610850" h="7200900">
                  <a:moveTo>
                    <a:pt x="0" y="0"/>
                  </a:moveTo>
                  <a:lnTo>
                    <a:pt x="10610850" y="0"/>
                  </a:lnTo>
                  <a:lnTo>
                    <a:pt x="10610850" y="7200900"/>
                  </a:lnTo>
                  <a:lnTo>
                    <a:pt x="0" y="7200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6" b="-126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871538" y="3726656"/>
            <a:ext cx="2286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1">
                <a:solidFill>
                  <a:srgbClr val="3B82F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71538" y="4612481"/>
            <a:ext cx="2286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1">
                <a:solidFill>
                  <a:srgbClr val="3B82F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71538" y="5498306"/>
            <a:ext cx="2286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1">
                <a:solidFill>
                  <a:srgbClr val="3B82F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1538" y="6727031"/>
            <a:ext cx="228600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 b="1">
                <a:solidFill>
                  <a:srgbClr val="3B82F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5829" y="2416969"/>
            <a:ext cx="17372171" cy="862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Tech Stack &amp; MongoDB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0" y="0"/>
            <a:ext cx="3510042" cy="1614719"/>
            <a:chOff x="0" y="0"/>
            <a:chExt cx="28997229" cy="1333955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8997228" cy="13339552"/>
            </a:xfrm>
            <a:custGeom>
              <a:avLst/>
              <a:gdLst/>
              <a:ahLst/>
              <a:cxnLst/>
              <a:rect l="l" t="t" r="r" b="b"/>
              <a:pathLst>
                <a:path w="28997228" h="13339552">
                  <a:moveTo>
                    <a:pt x="0" y="0"/>
                  </a:moveTo>
                  <a:lnTo>
                    <a:pt x="28997228" y="0"/>
                  </a:lnTo>
                  <a:lnTo>
                    <a:pt x="28997228" y="13339552"/>
                  </a:lnTo>
                  <a:lnTo>
                    <a:pt x="0" y="13339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79" b="-279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71538" y="5736431"/>
            <a:ext cx="16544925" cy="57150"/>
            <a:chOff x="0" y="0"/>
            <a:chExt cx="22059900" cy="76200"/>
          </a:xfrm>
        </p:grpSpPr>
        <p:sp>
          <p:nvSpPr>
            <p:cNvPr id="5" name="Freeform 5" descr="image.png"/>
            <p:cNvSpPr/>
            <p:nvPr/>
          </p:nvSpPr>
          <p:spPr>
            <a:xfrm>
              <a:off x="0" y="0"/>
              <a:ext cx="22059900" cy="76200"/>
            </a:xfrm>
            <a:custGeom>
              <a:avLst/>
              <a:gdLst/>
              <a:ahLst/>
              <a:cxnLst/>
              <a:rect l="l" t="t" r="r" b="b"/>
              <a:pathLst>
                <a:path w="22059900" h="76200">
                  <a:moveTo>
                    <a:pt x="0" y="0"/>
                  </a:moveTo>
                  <a:lnTo>
                    <a:pt x="22059900" y="0"/>
                  </a:lnTo>
                  <a:lnTo>
                    <a:pt x="22059900" y="76200"/>
                  </a:lnTo>
                  <a:lnTo>
                    <a:pt x="0" y="7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400" b="-1238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871538" y="6165056"/>
            <a:ext cx="3805161" cy="1779689"/>
            <a:chOff x="0" y="0"/>
            <a:chExt cx="5073548" cy="2372919"/>
          </a:xfrm>
        </p:grpSpPr>
        <p:sp>
          <p:nvSpPr>
            <p:cNvPr id="7" name="Freeform 7" descr="image.png"/>
            <p:cNvSpPr/>
            <p:nvPr/>
          </p:nvSpPr>
          <p:spPr>
            <a:xfrm>
              <a:off x="0" y="0"/>
              <a:ext cx="5073523" cy="2372868"/>
            </a:xfrm>
            <a:custGeom>
              <a:avLst/>
              <a:gdLst/>
              <a:ahLst/>
              <a:cxnLst/>
              <a:rect l="l" t="t" r="r" b="b"/>
              <a:pathLst>
                <a:path w="5073523" h="2372868">
                  <a:moveTo>
                    <a:pt x="0" y="0"/>
                  </a:moveTo>
                  <a:lnTo>
                    <a:pt x="5073523" y="0"/>
                  </a:lnTo>
                  <a:lnTo>
                    <a:pt x="5073523" y="2372868"/>
                  </a:lnTo>
                  <a:lnTo>
                    <a:pt x="0" y="2372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49" b="-45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5118049" y="3585267"/>
            <a:ext cx="3805161" cy="1779689"/>
            <a:chOff x="0" y="0"/>
            <a:chExt cx="5073548" cy="2372919"/>
          </a:xfrm>
        </p:grpSpPr>
        <p:sp>
          <p:nvSpPr>
            <p:cNvPr id="9" name="Freeform 9" descr="image.png"/>
            <p:cNvSpPr/>
            <p:nvPr/>
          </p:nvSpPr>
          <p:spPr>
            <a:xfrm>
              <a:off x="0" y="0"/>
              <a:ext cx="5073523" cy="2372868"/>
            </a:xfrm>
            <a:custGeom>
              <a:avLst/>
              <a:gdLst/>
              <a:ahLst/>
              <a:cxnLst/>
              <a:rect l="l" t="t" r="r" b="b"/>
              <a:pathLst>
                <a:path w="5073523" h="2372868">
                  <a:moveTo>
                    <a:pt x="0" y="0"/>
                  </a:moveTo>
                  <a:lnTo>
                    <a:pt x="5073523" y="0"/>
                  </a:lnTo>
                  <a:lnTo>
                    <a:pt x="5073523" y="2372868"/>
                  </a:lnTo>
                  <a:lnTo>
                    <a:pt x="0" y="2372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61" b="-263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9364561" y="6165056"/>
            <a:ext cx="3805161" cy="1779689"/>
            <a:chOff x="0" y="0"/>
            <a:chExt cx="5073548" cy="2372919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5073523" cy="2372868"/>
            </a:xfrm>
            <a:custGeom>
              <a:avLst/>
              <a:gdLst/>
              <a:ahLst/>
              <a:cxnLst/>
              <a:rect l="l" t="t" r="r" b="b"/>
              <a:pathLst>
                <a:path w="5073523" h="2372868">
                  <a:moveTo>
                    <a:pt x="0" y="0"/>
                  </a:moveTo>
                  <a:lnTo>
                    <a:pt x="5073523" y="0"/>
                  </a:lnTo>
                  <a:lnTo>
                    <a:pt x="5073523" y="2372868"/>
                  </a:lnTo>
                  <a:lnTo>
                    <a:pt x="0" y="2372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61" b="-263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3611073" y="3585267"/>
            <a:ext cx="3805161" cy="1779689"/>
            <a:chOff x="0" y="0"/>
            <a:chExt cx="5073548" cy="2372919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5073523" cy="2372868"/>
            </a:xfrm>
            <a:custGeom>
              <a:avLst/>
              <a:gdLst/>
              <a:ahLst/>
              <a:cxnLst/>
              <a:rect l="l" t="t" r="r" b="b"/>
              <a:pathLst>
                <a:path w="5073523" h="2372868">
                  <a:moveTo>
                    <a:pt x="0" y="0"/>
                  </a:moveTo>
                  <a:lnTo>
                    <a:pt x="5073523" y="0"/>
                  </a:lnTo>
                  <a:lnTo>
                    <a:pt x="5073523" y="2372868"/>
                  </a:lnTo>
                  <a:lnTo>
                    <a:pt x="0" y="23728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449" b="-451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143000" y="6426994"/>
            <a:ext cx="342535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60A5FA"/>
                </a:solidFill>
                <a:latin typeface="Poppins"/>
                <a:ea typeface="Poppins"/>
                <a:cs typeface="Poppins"/>
                <a:sym typeface="Poppins"/>
              </a:rPr>
              <a:t>Phase 1 (Current)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3000" y="6855619"/>
            <a:ext cx="3262236" cy="817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5"/>
              </a:lnSpc>
            </a:pPr>
            <a:r>
              <a:rPr lang="en-US" sz="1462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Frontend UI/UX prototype using simulated client-side scoring &amp; interactive timer UI.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89512" y="3847205"/>
            <a:ext cx="342535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60A5FA"/>
                </a:solidFill>
                <a:latin typeface="Poppins"/>
                <a:ea typeface="Poppins"/>
                <a:cs typeface="Poppins"/>
                <a:sym typeface="Poppins"/>
              </a:rPr>
              <a:t>Phase 2 (Backend)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89512" y="4275830"/>
            <a:ext cx="3262236" cy="817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5"/>
              </a:lnSpc>
            </a:pPr>
            <a:r>
              <a:rPr lang="en-US" sz="1462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Node.js/Express REST APIs with MongoDB database for persistent user data &amp; history.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36023" y="6426994"/>
            <a:ext cx="342535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60A5FA"/>
                </a:solidFill>
                <a:latin typeface="Poppins"/>
                <a:ea typeface="Poppins"/>
                <a:cs typeface="Poppins"/>
                <a:sym typeface="Poppins"/>
              </a:rPr>
              <a:t>Phase 3 (AI Engine)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636023" y="6855619"/>
            <a:ext cx="3262236" cy="817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5"/>
              </a:lnSpc>
            </a:pPr>
            <a:r>
              <a:rPr lang="en-US" sz="1462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Integrating OpenAI GPT-4 for STAR evaluation &amp; Whisper STT for live voice processing.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882535" y="3847205"/>
            <a:ext cx="3425352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912">
                <a:solidFill>
                  <a:srgbClr val="60A5FA"/>
                </a:solidFill>
                <a:latin typeface="Poppins"/>
                <a:ea typeface="Poppins"/>
                <a:cs typeface="Poppins"/>
                <a:sym typeface="Poppins"/>
              </a:rPr>
              <a:t>Phase 4 (Vision AI)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882535" y="4275830"/>
            <a:ext cx="3262236" cy="817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5"/>
              </a:lnSpc>
            </a:pPr>
            <a:r>
              <a:rPr lang="en-US" sz="1462">
                <a:solidFill>
                  <a:srgbClr val="9CA3AF"/>
                </a:solidFill>
                <a:latin typeface="Poppins"/>
                <a:ea typeface="Poppins"/>
                <a:cs typeface="Poppins"/>
                <a:sym typeface="Poppins"/>
              </a:rPr>
              <a:t>WebRTC &amp; OpenCV eye-contact detection and real-time emotion/confidence scoring.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8475" y="2723255"/>
            <a:ext cx="17372171" cy="862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30"/>
              </a:lnSpc>
            </a:pPr>
            <a:r>
              <a:rPr lang="en-US" sz="427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Development Roadmap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2588381" y="5579269"/>
            <a:ext cx="371475" cy="371475"/>
            <a:chOff x="0" y="0"/>
            <a:chExt cx="495300" cy="4953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cubicBezTo>
                    <a:pt x="384429" y="0"/>
                    <a:pt x="495300" y="110871"/>
                    <a:pt x="495300" y="247650"/>
                  </a:cubicBezTo>
                  <a:cubicBezTo>
                    <a:pt x="495300" y="384429"/>
                    <a:pt x="384429" y="495300"/>
                    <a:pt x="247650" y="495300"/>
                  </a:cubicBezTo>
                  <a:cubicBezTo>
                    <a:pt x="110871" y="495300"/>
                    <a:pt x="0" y="384429"/>
                    <a:pt x="0" y="247650"/>
                  </a:cubicBezTo>
                  <a:close/>
                </a:path>
              </a:pathLst>
            </a:custGeom>
            <a:solidFill>
              <a:srgbClr val="111827"/>
            </a:solidFill>
            <a:ln w="57150" cap="sq">
              <a:solidFill>
                <a:srgbClr val="60A5FA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6834892" y="5579269"/>
            <a:ext cx="371475" cy="371475"/>
            <a:chOff x="0" y="0"/>
            <a:chExt cx="495300" cy="4953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cubicBezTo>
                    <a:pt x="384429" y="0"/>
                    <a:pt x="495300" y="110871"/>
                    <a:pt x="495300" y="247650"/>
                  </a:cubicBezTo>
                  <a:cubicBezTo>
                    <a:pt x="495300" y="384429"/>
                    <a:pt x="384429" y="495300"/>
                    <a:pt x="247650" y="495300"/>
                  </a:cubicBezTo>
                  <a:cubicBezTo>
                    <a:pt x="110871" y="495300"/>
                    <a:pt x="0" y="384429"/>
                    <a:pt x="0" y="247650"/>
                  </a:cubicBezTo>
                  <a:close/>
                </a:path>
              </a:pathLst>
            </a:custGeom>
            <a:solidFill>
              <a:srgbClr val="111827"/>
            </a:solidFill>
            <a:ln w="57150" cap="sq">
              <a:solidFill>
                <a:srgbClr val="60A5FA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1081404" y="5579269"/>
            <a:ext cx="371475" cy="371475"/>
            <a:chOff x="0" y="0"/>
            <a:chExt cx="495300" cy="4953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cubicBezTo>
                    <a:pt x="384429" y="0"/>
                    <a:pt x="495300" y="110871"/>
                    <a:pt x="495300" y="247650"/>
                  </a:cubicBezTo>
                  <a:cubicBezTo>
                    <a:pt x="495300" y="384429"/>
                    <a:pt x="384429" y="495300"/>
                    <a:pt x="247650" y="495300"/>
                  </a:cubicBezTo>
                  <a:cubicBezTo>
                    <a:pt x="110871" y="495300"/>
                    <a:pt x="0" y="384429"/>
                    <a:pt x="0" y="247650"/>
                  </a:cubicBezTo>
                  <a:close/>
                </a:path>
              </a:pathLst>
            </a:custGeom>
            <a:solidFill>
              <a:srgbClr val="111827"/>
            </a:solidFill>
            <a:ln w="57150" cap="sq">
              <a:solidFill>
                <a:srgbClr val="60A5FA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15327916" y="5579269"/>
            <a:ext cx="371475" cy="371475"/>
            <a:chOff x="0" y="0"/>
            <a:chExt cx="495300" cy="4953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0" y="247650"/>
                  </a:moveTo>
                  <a:cubicBezTo>
                    <a:pt x="0" y="110871"/>
                    <a:pt x="110871" y="0"/>
                    <a:pt x="247650" y="0"/>
                  </a:cubicBezTo>
                  <a:cubicBezTo>
                    <a:pt x="384429" y="0"/>
                    <a:pt x="495300" y="110871"/>
                    <a:pt x="495300" y="247650"/>
                  </a:cubicBezTo>
                  <a:cubicBezTo>
                    <a:pt x="495300" y="384429"/>
                    <a:pt x="384429" y="495300"/>
                    <a:pt x="247650" y="495300"/>
                  </a:cubicBezTo>
                  <a:cubicBezTo>
                    <a:pt x="110871" y="495300"/>
                    <a:pt x="0" y="384429"/>
                    <a:pt x="0" y="247650"/>
                  </a:cubicBezTo>
                  <a:close/>
                </a:path>
              </a:pathLst>
            </a:custGeom>
            <a:solidFill>
              <a:srgbClr val="111827"/>
            </a:solidFill>
            <a:ln w="57150" cap="sq">
              <a:solidFill>
                <a:srgbClr val="60A5FA"/>
              </a:soli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0" y="0"/>
            <a:ext cx="3510042" cy="1614719"/>
            <a:chOff x="0" y="0"/>
            <a:chExt cx="28997229" cy="1333955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8997228" cy="13339552"/>
            </a:xfrm>
            <a:custGeom>
              <a:avLst/>
              <a:gdLst/>
              <a:ahLst/>
              <a:cxnLst/>
              <a:rect l="l" t="t" r="r" b="b"/>
              <a:pathLst>
                <a:path w="28997228" h="13339552">
                  <a:moveTo>
                    <a:pt x="0" y="0"/>
                  </a:moveTo>
                  <a:lnTo>
                    <a:pt x="28997228" y="0"/>
                  </a:lnTo>
                  <a:lnTo>
                    <a:pt x="28997228" y="13339552"/>
                  </a:lnTo>
                  <a:lnTo>
                    <a:pt x="0" y="13339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279" b="-279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457349" y="4405300"/>
            <a:ext cx="16801951" cy="902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26"/>
              </a:lnSpc>
            </a:pPr>
            <a:r>
              <a:rPr lang="en-US" sz="793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</a:t>
            </a:r>
          </a:p>
          <a:p>
            <a:pPr algn="ctr">
              <a:lnSpc>
                <a:spcPts val="4367"/>
              </a:lnSpc>
            </a:pPr>
            <a:endParaRPr lang="en-US" sz="7939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4367"/>
              </a:lnSpc>
            </a:pPr>
            <a:endParaRPr lang="en-US" sz="7939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4367"/>
              </a:lnSpc>
            </a:pPr>
            <a:endParaRPr lang="en-US" sz="7939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4367"/>
              </a:lnSpc>
            </a:pPr>
            <a:endParaRPr lang="en-US" sz="7939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4367"/>
              </a:lnSpc>
            </a:pPr>
            <a:endParaRPr lang="en-US" sz="7939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4367"/>
              </a:lnSpc>
            </a:pPr>
            <a:endParaRPr lang="en-US" sz="7939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4367"/>
              </a:lnSpc>
            </a:pPr>
            <a:endParaRPr lang="en-US" sz="7939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4367"/>
              </a:lnSpc>
            </a:pPr>
            <a:endParaRPr lang="en-US" sz="7939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4367"/>
              </a:lnSpc>
            </a:pPr>
            <a:endParaRPr lang="en-US" sz="7939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4367"/>
              </a:lnSpc>
            </a:pPr>
            <a:endParaRPr lang="en-US" sz="7939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4367"/>
              </a:lnSpc>
            </a:pPr>
            <a:endParaRPr lang="en-US" sz="7939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4367"/>
              </a:lnSpc>
            </a:pPr>
            <a:endParaRPr lang="en-US" sz="7939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4367"/>
              </a:lnSpc>
            </a:pPr>
            <a:endParaRPr lang="en-US" sz="7939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4367"/>
              </a:lnSpc>
              <a:spcBef>
                <a:spcPct val="0"/>
              </a:spcBef>
            </a:pPr>
            <a:endParaRPr lang="en-US" sz="7939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819</Words>
  <Application>Microsoft Office PowerPoint</Application>
  <PresentationFormat>Custom</PresentationFormat>
  <Paragraphs>113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Poppins Bold</vt:lpstr>
      <vt:lpstr>Poppins Italics</vt:lpstr>
      <vt:lpstr>Calibri (MS) Bold</vt:lpstr>
      <vt:lpstr>Arial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Interview Coach Presentation (2).pptx</dc:title>
  <cp:lastModifiedBy>kompalllypavan@outlook.com</cp:lastModifiedBy>
  <cp:revision>4</cp:revision>
  <dcterms:created xsi:type="dcterms:W3CDTF">2006-08-16T00:00:00Z</dcterms:created>
  <dcterms:modified xsi:type="dcterms:W3CDTF">2026-08-28T05:06:28Z</dcterms:modified>
  <dc:identifier>DAHTW5rkIEo</dc:identifier>
</cp:coreProperties>
</file>